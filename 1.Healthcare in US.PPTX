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6" r:id="rId3"/>
    <p:sldId id="258" r:id="rId4"/>
    <p:sldId id="260" r:id="rId5"/>
    <p:sldId id="269" r:id="rId6"/>
    <p:sldId id="261" r:id="rId7"/>
    <p:sldId id="268"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0" d="100"/>
          <a:sy n="60" d="100"/>
        </p:scale>
        <p:origin x="908"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dhan Vankayala, A." userId="8db0d2e6-76f2-4200-9ead-f19a890d7bfe" providerId="ADAL" clId="{E136005C-0130-4A3E-BC01-044717AF4639}"/>
    <pc:docChg chg="modSld">
      <pc:chgData name="Vardhan Vankayala, A." userId="8db0d2e6-76f2-4200-9ead-f19a890d7bfe" providerId="ADAL" clId="{E136005C-0130-4A3E-BC01-044717AF4639}" dt="2020-11-17T12:40:00.917" v="0" actId="1076"/>
      <pc:docMkLst>
        <pc:docMk/>
      </pc:docMkLst>
      <pc:sldChg chg="modSp">
        <pc:chgData name="Vardhan Vankayala, A." userId="8db0d2e6-76f2-4200-9ead-f19a890d7bfe" providerId="ADAL" clId="{E136005C-0130-4A3E-BC01-044717AF4639}" dt="2020-11-17T12:40:00.917" v="0" actId="1076"/>
        <pc:sldMkLst>
          <pc:docMk/>
          <pc:sldMk cId="1571559039" sldId="271"/>
        </pc:sldMkLst>
        <pc:spChg chg="mod">
          <ac:chgData name="Vardhan Vankayala, A." userId="8db0d2e6-76f2-4200-9ead-f19a890d7bfe" providerId="ADAL" clId="{E136005C-0130-4A3E-BC01-044717AF4639}" dt="2020-11-17T12:40:00.917" v="0" actId="1076"/>
          <ac:spMkLst>
            <pc:docMk/>
            <pc:sldMk cId="1571559039" sldId="271"/>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A488F23-E77E-4C30-938E-3229B6DF1610}" type="datetimeFigureOut">
              <a:rPr lang="en-US" smtClean="0"/>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261632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488F23-E77E-4C30-938E-3229B6DF1610}" type="datetimeFigureOut">
              <a:rPr lang="en-US" smtClean="0"/>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99931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488F23-E77E-4C30-938E-3229B6DF1610}" type="datetimeFigureOut">
              <a:rPr lang="en-US" smtClean="0"/>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229512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488F23-E77E-4C30-938E-3229B6DF1610}" type="datetimeFigureOut">
              <a:rPr lang="en-US" smtClean="0"/>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3403139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488F23-E77E-4C30-938E-3229B6DF1610}" type="datetimeFigureOut">
              <a:rPr lang="en-US" smtClean="0"/>
              <a:t>11/17/2020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2960917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A488F23-E77E-4C30-938E-3229B6DF1610}" type="datetimeFigureOut">
              <a:rPr lang="en-US" smtClean="0"/>
              <a:t>11/17/2020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2801802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488F23-E77E-4C30-938E-3229B6DF1610}" type="datetimeFigureOut">
              <a:rPr lang="en-US" smtClean="0"/>
              <a:t>11/17/2020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333189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488F23-E77E-4C30-938E-3229B6DF1610}" type="datetimeFigureOut">
              <a:rPr lang="en-US" smtClean="0"/>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4209829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488F23-E77E-4C30-938E-3229B6DF1610}" type="datetimeFigureOut">
              <a:rPr lang="en-US" smtClean="0"/>
              <a:t>11/17/2020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2185518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488F23-E77E-4C30-938E-3229B6DF1610}" type="datetimeFigureOut">
              <a:rPr lang="en-US" smtClean="0"/>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779489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488F23-E77E-4C30-938E-3229B6DF1610}" type="datetimeFigureOut">
              <a:rPr lang="en-US" smtClean="0"/>
              <a:t>11/17/2020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D1ED2-80C3-4B26-B89F-FB7FAFD02808}" type="slidenum">
              <a:rPr lang="en-US" smtClean="0"/>
              <a:t>‹#›</a:t>
            </a:fld>
            <a:endParaRPr lang="en-US"/>
          </a:p>
        </p:txBody>
      </p:sp>
    </p:spTree>
    <p:extLst>
      <p:ext uri="{BB962C8B-B14F-4D97-AF65-F5344CB8AC3E}">
        <p14:creationId xmlns:p14="http://schemas.microsoft.com/office/powerpoint/2010/main" val="133550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488F23-E77E-4C30-938E-3229B6DF1610}" type="datetimeFigureOut">
              <a:rPr lang="en-US" smtClean="0"/>
              <a:t>11/17/2020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8D1ED2-80C3-4B26-B89F-FB7FAFD02808}" type="slidenum">
              <a:rPr lang="en-US" smtClean="0"/>
              <a:t>‹#›</a:t>
            </a:fld>
            <a:endParaRPr lang="en-US"/>
          </a:p>
        </p:txBody>
      </p:sp>
    </p:spTree>
    <p:extLst>
      <p:ext uri="{BB962C8B-B14F-4D97-AF65-F5344CB8AC3E}">
        <p14:creationId xmlns:p14="http://schemas.microsoft.com/office/powerpoint/2010/main" val="4133408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6.wmf"/></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spcBef>
                <a:spcPct val="0"/>
              </a:spcBef>
              <a:buClrTx/>
              <a:buSzTx/>
              <a:buFontTx/>
              <a:buNone/>
            </a:pPr>
            <a:fld id="{2F04057E-C019-4C9E-81A1-F6C835A4CB8A}" type="slidenum">
              <a:rPr lang="en-US" altLang="en-US" sz="1000">
                <a:latin typeface="Times New Roman" panose="02020603050405020304" pitchFamily="18" charset="0"/>
              </a:rPr>
              <a:pPr>
                <a:spcBef>
                  <a:spcPct val="0"/>
                </a:spcBef>
                <a:buClrTx/>
                <a:buSzTx/>
                <a:buFontTx/>
                <a:buNone/>
              </a:pPr>
              <a:t>1</a:t>
            </a:fld>
            <a:endParaRPr lang="en-US" altLang="en-US" sz="1000">
              <a:latin typeface="Times New Roman" panose="02020603050405020304" pitchFamily="18" charset="0"/>
            </a:endParaRPr>
          </a:p>
        </p:txBody>
      </p:sp>
      <p:sp>
        <p:nvSpPr>
          <p:cNvPr id="11267" name="Rectangle 13"/>
          <p:cNvSpPr>
            <a:spLocks noGrp="1" noChangeArrowheads="1"/>
          </p:cNvSpPr>
          <p:nvPr>
            <p:ph type="title"/>
          </p:nvPr>
        </p:nvSpPr>
        <p:spPr>
          <a:xfrm>
            <a:off x="1703388" y="1"/>
            <a:ext cx="8189912" cy="1196975"/>
          </a:xfrm>
          <a:noFill/>
          <a:extLst>
            <a:ext uri="{91240B29-F687-4F45-9708-019B960494DF}">
              <a14:hiddenLine xmlns:a14="http://schemas.microsoft.com/office/drawing/2010/main" w="12700" algn="ctr">
                <a:solidFill>
                  <a:schemeClr val="tx1"/>
                </a:solidFill>
                <a:miter lim="800000"/>
                <a:headEnd/>
                <a:tailEnd/>
              </a14:hiddenLine>
            </a:ext>
          </a:extLst>
        </p:spPr>
        <p:txBody>
          <a:bodyPr/>
          <a:lstStyle/>
          <a:p>
            <a:pPr algn="ctr" eaLnBrk="1" hangingPunct="1"/>
            <a:r>
              <a:rPr lang="en-US" altLang="en-US" b="1" dirty="0"/>
              <a:t>Healthcare in U.S.</a:t>
            </a:r>
          </a:p>
        </p:txBody>
      </p:sp>
      <p:sp>
        <p:nvSpPr>
          <p:cNvPr id="113678" name="Rectangle 14"/>
          <p:cNvSpPr>
            <a:spLocks noGrp="1" noChangeArrowheads="1"/>
          </p:cNvSpPr>
          <p:nvPr>
            <p:ph type="body" sz="half" idx="1"/>
          </p:nvPr>
        </p:nvSpPr>
        <p:spPr>
          <a:xfrm>
            <a:off x="978794" y="1341439"/>
            <a:ext cx="10547797" cy="5183187"/>
          </a:xfrm>
          <a:extLst>
            <a:ext uri="{909E8E84-426E-40DD-AFC4-6F175D3DCCD1}">
              <a14:hiddenFill xmlns:a14="http://schemas.microsoft.com/office/drawing/2010/main">
                <a:solidFill>
                  <a:schemeClr val="accent1"/>
                </a:solidFill>
              </a14:hiddenFill>
            </a:ext>
          </a:extLst>
        </p:spPr>
        <p:txBody>
          <a:bodyPr/>
          <a:lstStyle/>
          <a:p>
            <a:pPr eaLnBrk="1" hangingPunct="1"/>
            <a:r>
              <a:rPr lang="en-US" altLang="en-US" sz="1800" dirty="0"/>
              <a:t>Healthcare financing in the US is </a:t>
            </a:r>
            <a:r>
              <a:rPr lang="en-US" altLang="en-US" sz="1800" b="1" dirty="0"/>
              <a:t>unique</a:t>
            </a:r>
            <a:r>
              <a:rPr lang="en-US" altLang="en-US" sz="1800" dirty="0"/>
              <a:t>, extremely </a:t>
            </a:r>
            <a:r>
              <a:rPr lang="en-US" altLang="en-US" sz="1800" b="1" dirty="0"/>
              <a:t>complex</a:t>
            </a:r>
            <a:r>
              <a:rPr lang="en-US" altLang="en-US" sz="1800" dirty="0"/>
              <a:t> and has evolved as a part of  a highly </a:t>
            </a:r>
            <a:r>
              <a:rPr lang="en-US" altLang="en-US" sz="1800" u="sng" dirty="0"/>
              <a:t>democratic</a:t>
            </a:r>
            <a:r>
              <a:rPr lang="en-US" altLang="en-US" sz="1800" dirty="0"/>
              <a:t> and </a:t>
            </a:r>
            <a:r>
              <a:rPr lang="en-US" altLang="en-US" sz="1800" u="sng" dirty="0"/>
              <a:t>capitalist</a:t>
            </a:r>
            <a:r>
              <a:rPr lang="en-US" altLang="en-US" sz="1800" dirty="0"/>
              <a:t> economy.</a:t>
            </a:r>
          </a:p>
          <a:p>
            <a:pPr eaLnBrk="1" hangingPunct="1"/>
            <a:r>
              <a:rPr lang="en-US" altLang="en-US" sz="1800" dirty="0"/>
              <a:t>Considerably different in the US than other places in the world.</a:t>
            </a:r>
          </a:p>
          <a:p>
            <a:pPr eaLnBrk="1" hangingPunct="1"/>
            <a:r>
              <a:rPr lang="en-US" altLang="en-US" sz="1800" dirty="0"/>
              <a:t>Considered 'Voluntary'.  Unlike many other countries, there is no universal insurance, nor is healthcare considered a 'right'. </a:t>
            </a:r>
          </a:p>
          <a:p>
            <a:pPr eaLnBrk="1" hangingPunct="1"/>
            <a:r>
              <a:rPr lang="en-US" altLang="en-US" sz="1800" dirty="0"/>
              <a:t>The US system, though it has many benefits, is also one of the most expensive in the world. </a:t>
            </a:r>
          </a:p>
        </p:txBody>
      </p:sp>
      <p:pic>
        <p:nvPicPr>
          <p:cNvPr id="11269" name="Picture 17" descr="health_insura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5013326"/>
            <a:ext cx="19050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18" descr="gro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688" y="3213100"/>
            <a:ext cx="230505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11614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7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67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367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0"/>
          </p:nvPr>
        </p:nvSpPr>
        <p:spPr>
          <a:noFill/>
        </p:spPr>
        <p:txBody>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spcBef>
                <a:spcPct val="0"/>
              </a:spcBef>
              <a:buClrTx/>
              <a:buSzTx/>
              <a:buFontTx/>
              <a:buNone/>
            </a:pPr>
            <a:fld id="{4F3F9788-CE6C-409D-B7C7-B4D23A4EF96A}" type="slidenum">
              <a:rPr lang="en-US" altLang="en-US" sz="1000">
                <a:latin typeface="Times New Roman" panose="02020603050405020304" pitchFamily="18" charset="0"/>
              </a:rPr>
              <a:pPr>
                <a:spcBef>
                  <a:spcPct val="0"/>
                </a:spcBef>
                <a:buClrTx/>
                <a:buSzTx/>
                <a:buFontTx/>
                <a:buNone/>
              </a:pPr>
              <a:t>2</a:t>
            </a:fld>
            <a:endParaRPr lang="en-US" altLang="en-US" sz="1000">
              <a:latin typeface="Times New Roman" panose="02020603050405020304" pitchFamily="18" charset="0"/>
            </a:endParaRPr>
          </a:p>
        </p:txBody>
      </p:sp>
      <p:sp>
        <p:nvSpPr>
          <p:cNvPr id="12291" name="Rectangle 267"/>
          <p:cNvSpPr>
            <a:spLocks noGrp="1" noChangeArrowheads="1"/>
          </p:cNvSpPr>
          <p:nvPr>
            <p:ph type="title"/>
          </p:nvPr>
        </p:nvSpPr>
        <p:spPr/>
        <p:txBody>
          <a:bodyPr>
            <a:normAutofit/>
          </a:bodyPr>
          <a:lstStyle/>
          <a:p>
            <a:pPr eaLnBrk="1" hangingPunct="1"/>
            <a:r>
              <a:rPr lang="en-US" altLang="en-US" sz="3200" b="1" dirty="0"/>
              <a:t>Top US Health Insurers &amp; US Health Insurance Market Share</a:t>
            </a:r>
          </a:p>
        </p:txBody>
      </p:sp>
      <p:pic>
        <p:nvPicPr>
          <p:cNvPr id="12292" name="Picture 285" descr="USReg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1484314"/>
            <a:ext cx="5761038" cy="435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4788" name="Group 356"/>
          <p:cNvGraphicFramePr>
            <a:graphicFrameLocks noGrp="1"/>
          </p:cNvGraphicFramePr>
          <p:nvPr>
            <p:ph sz="half" idx="2"/>
            <p:extLst>
              <p:ext uri="{D42A27DB-BD31-4B8C-83A1-F6EECF244321}">
                <p14:modId xmlns:p14="http://schemas.microsoft.com/office/powerpoint/2010/main" val="3043357582"/>
              </p:ext>
            </p:extLst>
          </p:nvPr>
        </p:nvGraphicFramePr>
        <p:xfrm>
          <a:off x="1774826" y="2060623"/>
          <a:ext cx="2881313" cy="4159872"/>
        </p:xfrm>
        <a:graphic>
          <a:graphicData uri="http://schemas.openxmlformats.org/drawingml/2006/table">
            <a:tbl>
              <a:tblPr/>
              <a:tblGrid>
                <a:gridCol w="2881313">
                  <a:extLst>
                    <a:ext uri="{9D8B030D-6E8A-4147-A177-3AD203B41FA5}">
                      <a16:colId xmlns:a16="http://schemas.microsoft.com/office/drawing/2014/main" val="20000"/>
                    </a:ext>
                  </a:extLst>
                </a:gridCol>
              </a:tblGrid>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1" i="0" u="none" strike="noStrike" cap="none" normalizeH="0" baseline="0" dirty="0">
                          <a:ln>
                            <a:noFill/>
                          </a:ln>
                          <a:solidFill>
                            <a:schemeClr val="tx1"/>
                          </a:solidFill>
                          <a:effectLst/>
                          <a:latin typeface="Arial" charset="0"/>
                        </a:rPr>
                        <a:t>Company/Group</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354760">
                <a:tc>
                  <a:txBody>
                    <a:bodyPr/>
                    <a:lstStyle>
                      <a:lvl1pPr marL="266700" indent="-266700" algn="l">
                        <a:spcBef>
                          <a:spcPct val="20000"/>
                        </a:spcBef>
                        <a:buClr>
                          <a:srgbClr val="336699"/>
                        </a:buClr>
                        <a:buSzPct val="90000"/>
                        <a:buFont typeface="Wingdings" pitchFamily="2" charset="2"/>
                        <a:defRPr sz="1400">
                          <a:solidFill>
                            <a:schemeClr val="tx1"/>
                          </a:solidFill>
                          <a:latin typeface="Arial" charset="0"/>
                        </a:defRPr>
                      </a:lvl1pPr>
                      <a:lvl2pPr marL="685800" indent="-228600" algn="l">
                        <a:spcBef>
                          <a:spcPct val="20000"/>
                        </a:spcBef>
                        <a:buClr>
                          <a:schemeClr val="tx1"/>
                        </a:buClr>
                        <a:defRPr sz="1200">
                          <a:solidFill>
                            <a:schemeClr val="tx1"/>
                          </a:solidFill>
                          <a:latin typeface="Arial" charset="0"/>
                        </a:defRPr>
                      </a:lvl2pPr>
                      <a:lvl3pPr marL="1104900" indent="-190500" algn="l">
                        <a:spcBef>
                          <a:spcPct val="20000"/>
                        </a:spcBef>
                        <a:buClr>
                          <a:schemeClr val="tx1"/>
                        </a:buClr>
                        <a:defRPr sz="1000">
                          <a:solidFill>
                            <a:schemeClr val="tx1"/>
                          </a:solidFill>
                          <a:latin typeface="Arial" charset="0"/>
                        </a:defRPr>
                      </a:lvl3pPr>
                      <a:lvl4pPr marL="1543050" indent="-171450" algn="l">
                        <a:spcBef>
                          <a:spcPct val="20000"/>
                        </a:spcBef>
                        <a:buClr>
                          <a:schemeClr val="tx1"/>
                        </a:buClr>
                        <a:defRPr sz="900">
                          <a:solidFill>
                            <a:schemeClr val="tx1"/>
                          </a:solidFill>
                          <a:latin typeface="Arial" charset="0"/>
                        </a:defRPr>
                      </a:lvl4pPr>
                      <a:lvl5pPr marL="2000250" indent="-171450" algn="l">
                        <a:spcBef>
                          <a:spcPct val="20000"/>
                        </a:spcBef>
                        <a:buClr>
                          <a:schemeClr val="tx1"/>
                        </a:buClr>
                        <a:defRPr sz="900">
                          <a:solidFill>
                            <a:schemeClr val="tx1"/>
                          </a:solidFill>
                          <a:latin typeface="Arial" charset="0"/>
                        </a:defRPr>
                      </a:lvl5pPr>
                      <a:lvl6pPr marL="2457450" indent="-171450" fontAlgn="base">
                        <a:spcBef>
                          <a:spcPct val="20000"/>
                        </a:spcBef>
                        <a:spcAft>
                          <a:spcPct val="0"/>
                        </a:spcAft>
                        <a:buClr>
                          <a:schemeClr val="tx1"/>
                        </a:buClr>
                        <a:defRPr sz="900">
                          <a:solidFill>
                            <a:schemeClr val="tx1"/>
                          </a:solidFill>
                          <a:latin typeface="Arial" charset="0"/>
                        </a:defRPr>
                      </a:lvl6pPr>
                      <a:lvl7pPr marL="2914650" indent="-171450" fontAlgn="base">
                        <a:spcBef>
                          <a:spcPct val="20000"/>
                        </a:spcBef>
                        <a:spcAft>
                          <a:spcPct val="0"/>
                        </a:spcAft>
                        <a:buClr>
                          <a:schemeClr val="tx1"/>
                        </a:buClr>
                        <a:defRPr sz="900">
                          <a:solidFill>
                            <a:schemeClr val="tx1"/>
                          </a:solidFill>
                          <a:latin typeface="Arial" charset="0"/>
                        </a:defRPr>
                      </a:lvl7pPr>
                      <a:lvl8pPr marL="3371850" indent="-171450" fontAlgn="base">
                        <a:spcBef>
                          <a:spcPct val="20000"/>
                        </a:spcBef>
                        <a:spcAft>
                          <a:spcPct val="0"/>
                        </a:spcAft>
                        <a:buClr>
                          <a:schemeClr val="tx1"/>
                        </a:buClr>
                        <a:defRPr sz="900">
                          <a:solidFill>
                            <a:schemeClr val="tx1"/>
                          </a:solidFill>
                          <a:latin typeface="Arial" charset="0"/>
                        </a:defRPr>
                      </a:lvl8pPr>
                      <a:lvl9pPr marL="3829050" indent="-171450" fontAlgn="base">
                        <a:spcBef>
                          <a:spcPct val="20000"/>
                        </a:spcBef>
                        <a:spcAft>
                          <a:spcPct val="0"/>
                        </a:spcAft>
                        <a:buClr>
                          <a:schemeClr val="tx1"/>
                        </a:buClr>
                        <a:defRPr sz="900">
                          <a:solidFill>
                            <a:schemeClr val="tx1"/>
                          </a:solidFill>
                          <a:latin typeface="Arial" charset="0"/>
                        </a:defRPr>
                      </a:lvl9pPr>
                    </a:lstStyle>
                    <a:p>
                      <a:pPr marL="266700" marR="0" lvl="0" indent="-266700" algn="l" defTabSz="914400" rtl="0" eaLnBrk="1" fontAlgn="base" latinLnBrk="0" hangingPunct="1">
                        <a:lnSpc>
                          <a:spcPct val="100000"/>
                        </a:lnSpc>
                        <a:spcBef>
                          <a:spcPct val="20000"/>
                        </a:spcBef>
                        <a:spcAft>
                          <a:spcPct val="0"/>
                        </a:spcAft>
                        <a:buClr>
                          <a:srgbClr val="336699"/>
                        </a:buClr>
                        <a:buSzPct val="90000"/>
                        <a:buFont typeface="Wingdings" pitchFamily="2" charset="2"/>
                        <a:buAutoNum type="arabicPeriod"/>
                        <a:tabLst/>
                      </a:pPr>
                      <a:r>
                        <a:rPr kumimoji="0" lang="en-US" altLang="en-US" sz="1300" b="0" i="0" u="none" strike="noStrike" cap="none" normalizeH="0" baseline="0" dirty="0">
                          <a:ln>
                            <a:noFill/>
                          </a:ln>
                          <a:solidFill>
                            <a:schemeClr val="tx1"/>
                          </a:solidFill>
                          <a:effectLst/>
                          <a:latin typeface="Arial" charset="0"/>
                        </a:rPr>
                        <a:t>WellPoint (33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dirty="0">
                          <a:ln>
                            <a:noFill/>
                          </a:ln>
                          <a:solidFill>
                            <a:schemeClr val="tx1"/>
                          </a:solidFill>
                          <a:effectLst/>
                          <a:latin typeface="Arial" charset="0"/>
                        </a:rPr>
                        <a:t>2. UnitedHealth (25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dirty="0">
                          <a:ln>
                            <a:noFill/>
                          </a:ln>
                          <a:solidFill>
                            <a:schemeClr val="tx1"/>
                          </a:solidFill>
                          <a:effectLst/>
                          <a:latin typeface="Arial" charset="0"/>
                        </a:rPr>
                        <a:t>3. Aetna (14.65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7491">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dirty="0">
                          <a:ln>
                            <a:noFill/>
                          </a:ln>
                          <a:solidFill>
                            <a:schemeClr val="tx1"/>
                          </a:solidFill>
                          <a:effectLst/>
                          <a:latin typeface="Arial" charset="0"/>
                        </a:rPr>
                        <a:t>4. Health Care Service Corporation (10.6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9541">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a:ln>
                            <a:noFill/>
                          </a:ln>
                          <a:solidFill>
                            <a:schemeClr val="tx1"/>
                          </a:solidFill>
                          <a:effectLst/>
                          <a:latin typeface="Arial" charset="0"/>
                        </a:rPr>
                        <a:t>5. CIGNA Healthcare (9.3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a:ln>
                            <a:noFill/>
                          </a:ln>
                          <a:solidFill>
                            <a:schemeClr val="tx1"/>
                          </a:solidFill>
                          <a:effectLst/>
                          <a:latin typeface="Arial" charset="0"/>
                        </a:rPr>
                        <a:t>6. Kaiser Permanente (8.5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a:ln>
                            <a:noFill/>
                          </a:ln>
                          <a:solidFill>
                            <a:schemeClr val="tx1"/>
                          </a:solidFill>
                          <a:effectLst/>
                          <a:latin typeface="Arial" charset="0"/>
                        </a:rPr>
                        <a:t>7. Humana (7.1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a:ln>
                            <a:noFill/>
                          </a:ln>
                          <a:solidFill>
                            <a:schemeClr val="tx1"/>
                          </a:solidFill>
                          <a:effectLst/>
                          <a:latin typeface="Arial" charset="0"/>
                        </a:rPr>
                        <a:t>8. Health Net (6.6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a:ln>
                            <a:noFill/>
                          </a:ln>
                          <a:solidFill>
                            <a:schemeClr val="tx1"/>
                          </a:solidFill>
                          <a:effectLst/>
                          <a:latin typeface="Arial" charset="0"/>
                        </a:rPr>
                        <a:t>9. Coventry Health Care (3.1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4760">
                <a:tc>
                  <a:txBody>
                    <a:bodyPr/>
                    <a:lstStyle>
                      <a:lvl1pPr algn="l">
                        <a:spcBef>
                          <a:spcPct val="20000"/>
                        </a:spcBef>
                        <a:buClr>
                          <a:srgbClr val="336699"/>
                        </a:buClr>
                        <a:buSzPct val="90000"/>
                        <a:buFont typeface="Wingdings" pitchFamily="2" charset="2"/>
                        <a:defRPr sz="1400">
                          <a:solidFill>
                            <a:schemeClr val="tx1"/>
                          </a:solidFill>
                          <a:latin typeface="Arial" charset="0"/>
                        </a:defRPr>
                      </a:lvl1pPr>
                      <a:lvl2pPr algn="l">
                        <a:spcBef>
                          <a:spcPct val="20000"/>
                        </a:spcBef>
                        <a:buClr>
                          <a:schemeClr val="tx1"/>
                        </a:buClr>
                        <a:defRPr sz="1200">
                          <a:solidFill>
                            <a:schemeClr val="tx1"/>
                          </a:solidFill>
                          <a:latin typeface="Arial" charset="0"/>
                        </a:defRPr>
                      </a:lvl2pPr>
                      <a:lvl3pPr algn="l">
                        <a:spcBef>
                          <a:spcPct val="20000"/>
                        </a:spcBef>
                        <a:buClr>
                          <a:schemeClr val="tx1"/>
                        </a:buClr>
                        <a:defRPr sz="1000">
                          <a:solidFill>
                            <a:schemeClr val="tx1"/>
                          </a:solidFill>
                          <a:latin typeface="Arial" charset="0"/>
                        </a:defRPr>
                      </a:lvl3pPr>
                      <a:lvl4pPr algn="l">
                        <a:spcBef>
                          <a:spcPct val="20000"/>
                        </a:spcBef>
                        <a:buClr>
                          <a:schemeClr val="tx1"/>
                        </a:buClr>
                        <a:defRPr sz="900">
                          <a:solidFill>
                            <a:schemeClr val="tx1"/>
                          </a:solidFill>
                          <a:latin typeface="Arial" charset="0"/>
                        </a:defRPr>
                      </a:lvl4pPr>
                      <a:lvl5pPr algn="l">
                        <a:spcBef>
                          <a:spcPct val="20000"/>
                        </a:spcBef>
                        <a:buClr>
                          <a:schemeClr val="tx1"/>
                        </a:buClr>
                        <a:defRPr sz="900">
                          <a:solidFill>
                            <a:schemeClr val="tx1"/>
                          </a:solidFill>
                          <a:latin typeface="Arial" charset="0"/>
                        </a:defRPr>
                      </a:lvl5pPr>
                      <a:lvl6pPr fontAlgn="base">
                        <a:spcBef>
                          <a:spcPct val="20000"/>
                        </a:spcBef>
                        <a:spcAft>
                          <a:spcPct val="0"/>
                        </a:spcAft>
                        <a:buClr>
                          <a:schemeClr val="tx1"/>
                        </a:buClr>
                        <a:defRPr sz="900">
                          <a:solidFill>
                            <a:schemeClr val="tx1"/>
                          </a:solidFill>
                          <a:latin typeface="Arial" charset="0"/>
                        </a:defRPr>
                      </a:lvl6pPr>
                      <a:lvl7pPr fontAlgn="base">
                        <a:spcBef>
                          <a:spcPct val="20000"/>
                        </a:spcBef>
                        <a:spcAft>
                          <a:spcPct val="0"/>
                        </a:spcAft>
                        <a:buClr>
                          <a:schemeClr val="tx1"/>
                        </a:buClr>
                        <a:defRPr sz="900">
                          <a:solidFill>
                            <a:schemeClr val="tx1"/>
                          </a:solidFill>
                          <a:latin typeface="Arial" charset="0"/>
                        </a:defRPr>
                      </a:lvl7pPr>
                      <a:lvl8pPr fontAlgn="base">
                        <a:spcBef>
                          <a:spcPct val="20000"/>
                        </a:spcBef>
                        <a:spcAft>
                          <a:spcPct val="0"/>
                        </a:spcAft>
                        <a:buClr>
                          <a:schemeClr val="tx1"/>
                        </a:buClr>
                        <a:defRPr sz="900">
                          <a:solidFill>
                            <a:schemeClr val="tx1"/>
                          </a:solidFill>
                          <a:latin typeface="Arial" charset="0"/>
                        </a:defRPr>
                      </a:lvl8pPr>
                      <a:lvl9pPr fontAlgn="base">
                        <a:spcBef>
                          <a:spcPct val="20000"/>
                        </a:spcBef>
                        <a:spcAft>
                          <a:spcPct val="0"/>
                        </a:spcAft>
                        <a:buClr>
                          <a:schemeClr val="tx1"/>
                        </a:buClr>
                        <a:defRPr sz="900">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rgbClr val="336699"/>
                        </a:buClr>
                        <a:buSzPct val="90000"/>
                        <a:buFont typeface="Wingdings" pitchFamily="2" charset="2"/>
                        <a:buNone/>
                        <a:tabLst/>
                      </a:pPr>
                      <a:r>
                        <a:rPr kumimoji="0" lang="en-US" altLang="en-US" sz="1300" b="0" i="0" u="none" strike="noStrike" cap="none" normalizeH="0" baseline="0" dirty="0">
                          <a:ln>
                            <a:noFill/>
                          </a:ln>
                          <a:solidFill>
                            <a:schemeClr val="tx1"/>
                          </a:solidFill>
                          <a:effectLst/>
                          <a:latin typeface="Arial" charset="0"/>
                        </a:rPr>
                        <a:t>10. Assurant Health (~ 1 M)</a:t>
                      </a:r>
                    </a:p>
                  </a:txBody>
                  <a:tcPr marT="45724" marB="4572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39488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spcBef>
                <a:spcPct val="0"/>
              </a:spcBef>
              <a:buClrTx/>
              <a:buSzTx/>
              <a:buFontTx/>
              <a:buNone/>
            </a:pPr>
            <a:fld id="{45B80A3C-7039-4275-B4CB-850CE4ED361A}" type="slidenum">
              <a:rPr lang="en-US" altLang="en-US" sz="1000">
                <a:latin typeface="Times New Roman" panose="02020603050405020304" pitchFamily="18" charset="0"/>
              </a:rPr>
              <a:pPr>
                <a:spcBef>
                  <a:spcPct val="0"/>
                </a:spcBef>
                <a:buClrTx/>
                <a:buSzTx/>
                <a:buFontTx/>
                <a:buNone/>
              </a:pPr>
              <a:t>3</a:t>
            </a:fld>
            <a:endParaRPr lang="en-US" altLang="en-US" sz="1000">
              <a:latin typeface="Times New Roman" panose="02020603050405020304" pitchFamily="18" charset="0"/>
            </a:endParaRPr>
          </a:p>
        </p:txBody>
      </p:sp>
      <p:sp>
        <p:nvSpPr>
          <p:cNvPr id="9219" name="Rectangle 2"/>
          <p:cNvSpPr>
            <a:spLocks noGrp="1" noChangeArrowheads="1"/>
          </p:cNvSpPr>
          <p:nvPr>
            <p:ph type="title"/>
          </p:nvPr>
        </p:nvSpPr>
        <p:spPr>
          <a:xfrm>
            <a:off x="838200" y="365126"/>
            <a:ext cx="10515600" cy="1006476"/>
          </a:xfrm>
        </p:spPr>
        <p:txBody>
          <a:bodyPr>
            <a:normAutofit/>
          </a:bodyPr>
          <a:lstStyle/>
          <a:p>
            <a:pPr algn="ctr" eaLnBrk="1" hangingPunct="1"/>
            <a:r>
              <a:rPr lang="en-US" altLang="en-US" sz="3600" b="1" dirty="0"/>
              <a:t>What does Health Insurance Provide?</a:t>
            </a:r>
          </a:p>
        </p:txBody>
      </p:sp>
      <p:sp>
        <p:nvSpPr>
          <p:cNvPr id="224260" name="Rectangle 4"/>
          <p:cNvSpPr>
            <a:spLocks noChangeArrowheads="1"/>
          </p:cNvSpPr>
          <p:nvPr/>
        </p:nvSpPr>
        <p:spPr bwMode="auto">
          <a:xfrm>
            <a:off x="4343400" y="1371601"/>
            <a:ext cx="6324600" cy="4721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15" tIns="53958" rIns="107915" bIns="53958"/>
          <a:lstStyle>
            <a:lvl1pPr marL="400050" indent="-400050" defTabSz="1066800">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866775" indent="-333375" defTabSz="1066800">
              <a:spcBef>
                <a:spcPct val="20000"/>
              </a:spcBef>
              <a:buClr>
                <a:schemeClr val="tx1"/>
              </a:buClr>
              <a:buChar char="–"/>
              <a:defRPr sz="1400">
                <a:solidFill>
                  <a:schemeClr val="tx1"/>
                </a:solidFill>
                <a:latin typeface="Arial" panose="020B0604020202020204" pitchFamily="34" charset="0"/>
              </a:defRPr>
            </a:lvl2pPr>
            <a:lvl3pPr marL="1333500" indent="-266700" defTabSz="1066800">
              <a:spcBef>
                <a:spcPct val="20000"/>
              </a:spcBef>
              <a:buClr>
                <a:schemeClr val="tx1"/>
              </a:buClr>
              <a:buChar char="•"/>
              <a:defRPr sz="1200">
                <a:solidFill>
                  <a:schemeClr val="tx1"/>
                </a:solidFill>
                <a:latin typeface="Arial" panose="020B0604020202020204" pitchFamily="34" charset="0"/>
              </a:defRPr>
            </a:lvl3pPr>
            <a:lvl4pPr marL="1866900" indent="-266700" defTabSz="1066800">
              <a:spcBef>
                <a:spcPct val="20000"/>
              </a:spcBef>
              <a:buClr>
                <a:schemeClr val="tx1"/>
              </a:buClr>
              <a:buChar char="–"/>
              <a:defRPr sz="1000">
                <a:solidFill>
                  <a:schemeClr val="tx1"/>
                </a:solidFill>
                <a:latin typeface="Arial" panose="020B0604020202020204" pitchFamily="34" charset="0"/>
              </a:defRPr>
            </a:lvl4pPr>
            <a:lvl5pPr marL="2400300" indent="-266700" defTabSz="1066800">
              <a:spcBef>
                <a:spcPct val="20000"/>
              </a:spcBef>
              <a:buClr>
                <a:schemeClr val="tx1"/>
              </a:buClr>
              <a:buChar char="•"/>
              <a:defRPr sz="1000">
                <a:solidFill>
                  <a:schemeClr val="tx1"/>
                </a:solidFill>
                <a:latin typeface="Arial" panose="020B0604020202020204" pitchFamily="34" charset="0"/>
              </a:defRPr>
            </a:lvl5pPr>
            <a:lvl6pPr marL="2857500" indent="-266700" defTabSz="10668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3314700" indent="-266700" defTabSz="10668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771900" indent="-266700" defTabSz="10668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4229100" indent="-266700" defTabSz="10668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buClr>
                <a:schemeClr val="tx1"/>
              </a:buClr>
              <a:buSzTx/>
              <a:buFontTx/>
              <a:buChar char="•"/>
            </a:pPr>
            <a:r>
              <a:rPr lang="en-US" altLang="en-US" sz="2000">
                <a:latin typeface="Verdana" panose="020B0604030504040204" pitchFamily="34" charset="0"/>
                <a:cs typeface="Times New Roman" panose="02020603050405020304" pitchFamily="18" charset="0"/>
              </a:rPr>
              <a:t>Typical covered services</a:t>
            </a:r>
          </a:p>
          <a:p>
            <a:pPr lvl="1">
              <a:buFontTx/>
              <a:buChar char="•"/>
            </a:pPr>
            <a:r>
              <a:rPr lang="en-US" altLang="en-US" sz="2000"/>
              <a:t>Hospital services and supplies (medical and surgical) </a:t>
            </a:r>
          </a:p>
          <a:p>
            <a:pPr lvl="1">
              <a:buFontTx/>
              <a:buChar char="•"/>
            </a:pPr>
            <a:r>
              <a:rPr lang="en-US" altLang="en-US" sz="2000"/>
              <a:t>Hospital room and board, including intensive and cardiac care </a:t>
            </a:r>
          </a:p>
          <a:p>
            <a:pPr lvl="1">
              <a:buFontTx/>
              <a:buChar char="•"/>
            </a:pPr>
            <a:r>
              <a:rPr lang="en-US" altLang="en-US" sz="2000"/>
              <a:t>Physicians' services (diagnostic, medical, and surgical) </a:t>
            </a:r>
          </a:p>
          <a:p>
            <a:pPr lvl="1">
              <a:buFontTx/>
              <a:buChar char="•"/>
            </a:pPr>
            <a:r>
              <a:rPr lang="en-US" altLang="en-US" sz="2000"/>
              <a:t>Nursing services </a:t>
            </a:r>
          </a:p>
          <a:p>
            <a:pPr lvl="1">
              <a:buFontTx/>
              <a:buChar char="•"/>
            </a:pPr>
            <a:r>
              <a:rPr lang="en-US" altLang="en-US" sz="2000"/>
              <a:t>Other medical practitioners' services </a:t>
            </a:r>
          </a:p>
          <a:p>
            <a:pPr lvl="1">
              <a:buFontTx/>
              <a:buChar char="•"/>
            </a:pPr>
            <a:r>
              <a:rPr lang="en-US" altLang="en-US" sz="2000"/>
              <a:t>Anesthesia and anesthesiologists' fees </a:t>
            </a:r>
          </a:p>
          <a:p>
            <a:pPr lvl="1">
              <a:buFontTx/>
              <a:buChar char="•"/>
            </a:pPr>
            <a:r>
              <a:rPr lang="en-US" altLang="en-US" sz="2000"/>
              <a:t>Ambulance service </a:t>
            </a:r>
          </a:p>
          <a:p>
            <a:pPr lvl="1">
              <a:buFontTx/>
              <a:buChar char="•"/>
            </a:pPr>
            <a:r>
              <a:rPr lang="en-US" altLang="en-US" sz="2000"/>
              <a:t>Laboratory and diagnostic tests, including x-rays </a:t>
            </a:r>
            <a:endParaRPr lang="en-US" altLang="en-US" sz="2000">
              <a:latin typeface="Verdana" panose="020B0604030504040204" pitchFamily="34" charset="0"/>
              <a:cs typeface="Times New Roman" panose="02020603050405020304" pitchFamily="18" charset="0"/>
            </a:endParaRPr>
          </a:p>
        </p:txBody>
      </p:sp>
      <p:pic>
        <p:nvPicPr>
          <p:cNvPr id="9221" name="Picture 5" descr="j040424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0" y="1447800"/>
            <a:ext cx="18224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6" descr="j040388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1" y="3200401"/>
            <a:ext cx="900113"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7" descr="j040420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19401" y="3200400"/>
            <a:ext cx="181927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8" descr="j040422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52601" y="4572000"/>
            <a:ext cx="1819275"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1723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224260">
                                            <p:txEl>
                                              <p:pRg st="0" end="0"/>
                                            </p:txEl>
                                          </p:spTgt>
                                        </p:tgtEl>
                                        <p:attrNameLst>
                                          <p:attrName>style.visibility</p:attrName>
                                        </p:attrNameLst>
                                      </p:cBhvr>
                                      <p:to>
                                        <p:strVal val="visible"/>
                                      </p:to>
                                    </p:set>
                                    <p:anim calcmode="lin" valueType="num">
                                      <p:cBhvr additive="base">
                                        <p:cTn id="7" dur="500" fill="hold"/>
                                        <p:tgtEl>
                                          <p:spTgt spid="22426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242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24260">
                                            <p:txEl>
                                              <p:pRg st="1" end="1"/>
                                            </p:txEl>
                                          </p:spTgt>
                                        </p:tgtEl>
                                        <p:attrNameLst>
                                          <p:attrName>style.visibility</p:attrName>
                                        </p:attrNameLst>
                                      </p:cBhvr>
                                      <p:to>
                                        <p:strVal val="visible"/>
                                      </p:to>
                                    </p:set>
                                    <p:anim calcmode="lin" valueType="num">
                                      <p:cBhvr additive="base">
                                        <p:cTn id="13" dur="500" fill="hold"/>
                                        <p:tgtEl>
                                          <p:spTgt spid="22426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242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24260">
                                            <p:txEl>
                                              <p:pRg st="2" end="2"/>
                                            </p:txEl>
                                          </p:spTgt>
                                        </p:tgtEl>
                                        <p:attrNameLst>
                                          <p:attrName>style.visibility</p:attrName>
                                        </p:attrNameLst>
                                      </p:cBhvr>
                                      <p:to>
                                        <p:strVal val="visible"/>
                                      </p:to>
                                    </p:set>
                                    <p:anim calcmode="lin" valueType="num">
                                      <p:cBhvr additive="base">
                                        <p:cTn id="19" dur="500" fill="hold"/>
                                        <p:tgtEl>
                                          <p:spTgt spid="22426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2426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24260">
                                            <p:txEl>
                                              <p:pRg st="3" end="3"/>
                                            </p:txEl>
                                          </p:spTgt>
                                        </p:tgtEl>
                                        <p:attrNameLst>
                                          <p:attrName>style.visibility</p:attrName>
                                        </p:attrNameLst>
                                      </p:cBhvr>
                                      <p:to>
                                        <p:strVal val="visible"/>
                                      </p:to>
                                    </p:set>
                                    <p:anim calcmode="lin" valueType="num">
                                      <p:cBhvr additive="base">
                                        <p:cTn id="25" dur="500" fill="hold"/>
                                        <p:tgtEl>
                                          <p:spTgt spid="22426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2426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24260">
                                            <p:txEl>
                                              <p:pRg st="4" end="4"/>
                                            </p:txEl>
                                          </p:spTgt>
                                        </p:tgtEl>
                                        <p:attrNameLst>
                                          <p:attrName>style.visibility</p:attrName>
                                        </p:attrNameLst>
                                      </p:cBhvr>
                                      <p:to>
                                        <p:strVal val="visible"/>
                                      </p:to>
                                    </p:set>
                                    <p:anim calcmode="lin" valueType="num">
                                      <p:cBhvr additive="base">
                                        <p:cTn id="31" dur="500" fill="hold"/>
                                        <p:tgtEl>
                                          <p:spTgt spid="22426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2426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24260">
                                            <p:txEl>
                                              <p:pRg st="5" end="5"/>
                                            </p:txEl>
                                          </p:spTgt>
                                        </p:tgtEl>
                                        <p:attrNameLst>
                                          <p:attrName>style.visibility</p:attrName>
                                        </p:attrNameLst>
                                      </p:cBhvr>
                                      <p:to>
                                        <p:strVal val="visible"/>
                                      </p:to>
                                    </p:set>
                                    <p:anim calcmode="lin" valueType="num">
                                      <p:cBhvr additive="base">
                                        <p:cTn id="37" dur="500" fill="hold"/>
                                        <p:tgtEl>
                                          <p:spTgt spid="22426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2426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224260">
                                            <p:txEl>
                                              <p:pRg st="6" end="6"/>
                                            </p:txEl>
                                          </p:spTgt>
                                        </p:tgtEl>
                                        <p:attrNameLst>
                                          <p:attrName>style.visibility</p:attrName>
                                        </p:attrNameLst>
                                      </p:cBhvr>
                                      <p:to>
                                        <p:strVal val="visible"/>
                                      </p:to>
                                    </p:set>
                                    <p:anim calcmode="lin" valueType="num">
                                      <p:cBhvr additive="base">
                                        <p:cTn id="43" dur="500" fill="hold"/>
                                        <p:tgtEl>
                                          <p:spTgt spid="22426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22426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224260">
                                            <p:txEl>
                                              <p:pRg st="7" end="7"/>
                                            </p:txEl>
                                          </p:spTgt>
                                        </p:tgtEl>
                                        <p:attrNameLst>
                                          <p:attrName>style.visibility</p:attrName>
                                        </p:attrNameLst>
                                      </p:cBhvr>
                                      <p:to>
                                        <p:strVal val="visible"/>
                                      </p:to>
                                    </p:set>
                                    <p:anim calcmode="lin" valueType="num">
                                      <p:cBhvr additive="base">
                                        <p:cTn id="49" dur="500" fill="hold"/>
                                        <p:tgtEl>
                                          <p:spTgt spid="224260">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22426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224260">
                                            <p:txEl>
                                              <p:pRg st="8" end="8"/>
                                            </p:txEl>
                                          </p:spTgt>
                                        </p:tgtEl>
                                        <p:attrNameLst>
                                          <p:attrName>style.visibility</p:attrName>
                                        </p:attrNameLst>
                                      </p:cBhvr>
                                      <p:to>
                                        <p:strVal val="visible"/>
                                      </p:to>
                                    </p:set>
                                    <p:anim calcmode="lin" valueType="num">
                                      <p:cBhvr additive="base">
                                        <p:cTn id="55" dur="500" fill="hold"/>
                                        <p:tgtEl>
                                          <p:spTgt spid="224260">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224260">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0"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p:spPr>
        <p:txBody>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spcBef>
                <a:spcPct val="0"/>
              </a:spcBef>
              <a:buClrTx/>
              <a:buSzTx/>
              <a:buFontTx/>
              <a:buNone/>
            </a:pPr>
            <a:fld id="{5A19AA20-7BF8-4DD3-950F-BAC7FB390579}" type="slidenum">
              <a:rPr lang="en-US" altLang="en-US" sz="1000">
                <a:latin typeface="Times New Roman" panose="02020603050405020304" pitchFamily="18" charset="0"/>
              </a:rPr>
              <a:pPr>
                <a:spcBef>
                  <a:spcPct val="0"/>
                </a:spcBef>
                <a:buClrTx/>
                <a:buSzTx/>
                <a:buFontTx/>
                <a:buNone/>
              </a:pPr>
              <a:t>4</a:t>
            </a:fld>
            <a:endParaRPr lang="en-US" altLang="en-US" sz="1000">
              <a:latin typeface="Times New Roman" panose="02020603050405020304" pitchFamily="18" charset="0"/>
            </a:endParaRPr>
          </a:p>
        </p:txBody>
      </p:sp>
      <p:grpSp>
        <p:nvGrpSpPr>
          <p:cNvPr id="133142" name="Group 22"/>
          <p:cNvGrpSpPr>
            <a:grpSpLocks/>
          </p:cNvGrpSpPr>
          <p:nvPr/>
        </p:nvGrpSpPr>
        <p:grpSpPr bwMode="auto">
          <a:xfrm>
            <a:off x="2135189" y="1341438"/>
            <a:ext cx="8181975" cy="5040312"/>
            <a:chOff x="385" y="845"/>
            <a:chExt cx="5154" cy="3175"/>
          </a:xfrm>
        </p:grpSpPr>
        <p:sp>
          <p:nvSpPr>
            <p:cNvPr id="10252" name="Rectangle 5"/>
            <p:cNvSpPr>
              <a:spLocks noChangeArrowheads="1"/>
            </p:cNvSpPr>
            <p:nvPr/>
          </p:nvSpPr>
          <p:spPr bwMode="ltGray">
            <a:xfrm flipH="1" flipV="1">
              <a:off x="385" y="845"/>
              <a:ext cx="2496" cy="2494"/>
            </a:xfrm>
            <a:prstGeom prst="rect">
              <a:avLst/>
            </a:prstGeom>
            <a:gradFill rotWithShape="0">
              <a:gsLst>
                <a:gs pos="0">
                  <a:srgbClr val="6699FF"/>
                </a:gs>
                <a:gs pos="100000">
                  <a:schemeClr val="bg1"/>
                </a:gs>
              </a:gsLst>
              <a:lin ang="0" scaled="1"/>
            </a:gradFill>
            <a:ln>
              <a:noFill/>
            </a:ln>
            <a:effectLst/>
            <a:extLs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000"/>
            </a:p>
          </p:txBody>
        </p:sp>
        <p:sp>
          <p:nvSpPr>
            <p:cNvPr id="10253" name="Rectangle 6"/>
            <p:cNvSpPr>
              <a:spLocks noChangeArrowheads="1"/>
            </p:cNvSpPr>
            <p:nvPr/>
          </p:nvSpPr>
          <p:spPr bwMode="ltGray">
            <a:xfrm flipH="1" flipV="1">
              <a:off x="2835" y="845"/>
              <a:ext cx="2701" cy="2494"/>
            </a:xfrm>
            <a:prstGeom prst="rect">
              <a:avLst/>
            </a:prstGeom>
            <a:gradFill rotWithShape="0">
              <a:gsLst>
                <a:gs pos="0">
                  <a:schemeClr val="bg1"/>
                </a:gs>
                <a:gs pos="100000">
                  <a:schemeClr val="accent1"/>
                </a:gs>
              </a:gsLst>
              <a:lin ang="0" scaled="1"/>
            </a:gradFill>
            <a:ln>
              <a:noFill/>
            </a:ln>
            <a:effectLst/>
            <a:extLst>
              <a:ext uri="{91240B29-F687-4F45-9708-019B960494DF}">
                <a14:hiddenLine xmlns:a14="http://schemas.microsoft.com/office/drawing/2010/main" w="2857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000"/>
            </a:p>
          </p:txBody>
        </p:sp>
        <p:sp>
          <p:nvSpPr>
            <p:cNvPr id="10254" name="Rectangle 15"/>
            <p:cNvSpPr>
              <a:spLocks noChangeArrowheads="1"/>
            </p:cNvSpPr>
            <p:nvPr/>
          </p:nvSpPr>
          <p:spPr bwMode="auto">
            <a:xfrm>
              <a:off x="385" y="3339"/>
              <a:ext cx="5154" cy="681"/>
            </a:xfrm>
            <a:prstGeom prst="rect">
              <a:avLst/>
            </a:prstGeom>
            <a:gradFill rotWithShape="1">
              <a:gsLst>
                <a:gs pos="0">
                  <a:srgbClr val="FF0000">
                    <a:alpha val="50000"/>
                  </a:srgbClr>
                </a:gs>
                <a:gs pos="100000">
                  <a:srgbClr val="760000"/>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2000"/>
            </a:p>
          </p:txBody>
        </p:sp>
      </p:grpSp>
      <p:pic>
        <p:nvPicPr>
          <p:cNvPr id="133127" name="Picture 7" descr="triangle_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0" y="1268414"/>
            <a:ext cx="5348288" cy="417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9" name="Text Box 9"/>
          <p:cNvSpPr txBox="1">
            <a:spLocks noChangeArrowheads="1"/>
          </p:cNvSpPr>
          <p:nvPr/>
        </p:nvSpPr>
        <p:spPr bwMode="auto">
          <a:xfrm rot="-3420000">
            <a:off x="4885532" y="3631407"/>
            <a:ext cx="927100" cy="23336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lnSpc>
                <a:spcPct val="85000"/>
              </a:lnSpc>
              <a:spcBef>
                <a:spcPct val="0"/>
              </a:spcBef>
              <a:buClrTx/>
              <a:buSzTx/>
              <a:buFont typeface="Wingdings" panose="05000000000000000000" pitchFamily="2" charset="2"/>
              <a:buNone/>
            </a:pPr>
            <a:r>
              <a:rPr lang="en-US" altLang="en-US" sz="1800" b="1">
                <a:solidFill>
                  <a:schemeClr val="bg1"/>
                </a:solidFill>
                <a:cs typeface="Arial" panose="020B0604020202020204" pitchFamily="34" charset="0"/>
              </a:rPr>
              <a:t>Provider</a:t>
            </a:r>
          </a:p>
        </p:txBody>
      </p:sp>
      <p:sp>
        <p:nvSpPr>
          <p:cNvPr id="133131" name="Rectangle 11"/>
          <p:cNvSpPr>
            <a:spLocks noChangeArrowheads="1"/>
          </p:cNvSpPr>
          <p:nvPr/>
        </p:nvSpPr>
        <p:spPr bwMode="auto">
          <a:xfrm>
            <a:off x="3503614" y="5589589"/>
            <a:ext cx="5019675"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9" rIns="91437" bIns="45719"/>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400" b="1">
                <a:ea typeface="MS PGothic" panose="020B0600070205080204" pitchFamily="34" charset="-128"/>
              </a:rPr>
              <a:t>    Consumers of Healthcare Services</a:t>
            </a:r>
          </a:p>
        </p:txBody>
      </p:sp>
      <p:sp>
        <p:nvSpPr>
          <p:cNvPr id="133132" name="Text Box 12"/>
          <p:cNvSpPr txBox="1">
            <a:spLocks noChangeArrowheads="1"/>
          </p:cNvSpPr>
          <p:nvPr/>
        </p:nvSpPr>
        <p:spPr bwMode="gray">
          <a:xfrm rot="21599892" flipH="1">
            <a:off x="4943476" y="4797426"/>
            <a:ext cx="2181225" cy="23336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lnSpc>
                <a:spcPct val="85000"/>
              </a:lnSpc>
              <a:spcBef>
                <a:spcPct val="0"/>
              </a:spcBef>
              <a:buClrTx/>
              <a:buSzTx/>
              <a:buFont typeface="Wingdings" panose="05000000000000000000" pitchFamily="2" charset="2"/>
              <a:buNone/>
            </a:pPr>
            <a:r>
              <a:rPr lang="en-US" altLang="en-US" sz="1800" b="1">
                <a:solidFill>
                  <a:schemeClr val="bg1"/>
                </a:solidFill>
                <a:cs typeface="Arial" panose="020B0604020202020204" pitchFamily="34" charset="0"/>
              </a:rPr>
              <a:t>Policy Holders</a:t>
            </a:r>
          </a:p>
        </p:txBody>
      </p:sp>
      <p:sp>
        <p:nvSpPr>
          <p:cNvPr id="133133" name="Rectangle 13"/>
          <p:cNvSpPr>
            <a:spLocks noChangeArrowheads="1"/>
          </p:cNvSpPr>
          <p:nvPr/>
        </p:nvSpPr>
        <p:spPr bwMode="auto">
          <a:xfrm>
            <a:off x="2195513" y="2116138"/>
            <a:ext cx="2863850" cy="192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9" rIns="91437" bIns="45719"/>
          <a:lstStyle>
            <a:lvl1pPr marL="381000" indent="-381000">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381000" indent="-381000">
              <a:spcBef>
                <a:spcPct val="20000"/>
              </a:spcBef>
              <a:buClr>
                <a:schemeClr val="tx1"/>
              </a:buClr>
              <a:buChar char="–"/>
              <a:defRPr sz="1400">
                <a:solidFill>
                  <a:schemeClr val="tx1"/>
                </a:solidFill>
                <a:latin typeface="Arial" panose="020B0604020202020204" pitchFamily="34" charset="0"/>
              </a:defRPr>
            </a:lvl2pPr>
            <a:lvl3pPr marL="381000" indent="-381000">
              <a:spcBef>
                <a:spcPct val="20000"/>
              </a:spcBef>
              <a:buClr>
                <a:schemeClr val="tx1"/>
              </a:buClr>
              <a:buChar char="•"/>
              <a:defRPr sz="1200">
                <a:solidFill>
                  <a:schemeClr val="tx1"/>
                </a:solidFill>
                <a:latin typeface="Arial" panose="020B0604020202020204" pitchFamily="34" charset="0"/>
              </a:defRPr>
            </a:lvl3pPr>
            <a:lvl4pPr marL="381000" indent="-381000">
              <a:spcBef>
                <a:spcPct val="20000"/>
              </a:spcBef>
              <a:buClr>
                <a:schemeClr val="tx1"/>
              </a:buClr>
              <a:buChar char="–"/>
              <a:defRPr sz="1000">
                <a:solidFill>
                  <a:schemeClr val="tx1"/>
                </a:solidFill>
                <a:latin typeface="Arial" panose="020B0604020202020204" pitchFamily="34" charset="0"/>
              </a:defRPr>
            </a:lvl4pPr>
            <a:lvl5pPr marL="381000" indent="-381000">
              <a:spcBef>
                <a:spcPct val="20000"/>
              </a:spcBef>
              <a:buClr>
                <a:schemeClr val="tx1"/>
              </a:buClr>
              <a:buChar char="•"/>
              <a:defRPr sz="1000">
                <a:solidFill>
                  <a:schemeClr val="tx1"/>
                </a:solidFill>
                <a:latin typeface="Arial" panose="020B0604020202020204" pitchFamily="34" charset="0"/>
              </a:defRPr>
            </a:lvl5pPr>
            <a:lvl6pPr marL="838200" indent="-3810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1295400" indent="-3810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1752600" indent="-3810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2209800" indent="-3810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eaLnBrk="1" hangingPunct="1">
              <a:spcBef>
                <a:spcPct val="0"/>
              </a:spcBef>
              <a:buClrTx/>
              <a:buSzTx/>
              <a:buFontTx/>
              <a:buNone/>
            </a:pPr>
            <a:r>
              <a:rPr lang="en-US" altLang="en-US" sz="1400" b="1">
                <a:ea typeface="MS PGothic" panose="020B0600070205080204" pitchFamily="34" charset="-128"/>
              </a:rPr>
              <a:t>Healthcare Delivery</a:t>
            </a:r>
            <a:r>
              <a:rPr lang="en-US" altLang="en-US" sz="1400">
                <a:ea typeface="MS PGothic" panose="020B0600070205080204" pitchFamily="34" charset="-128"/>
              </a:rPr>
              <a:t>:</a:t>
            </a:r>
            <a:br>
              <a:rPr lang="en-US" altLang="en-US" sz="1400">
                <a:ea typeface="MS PGothic" panose="020B0600070205080204" pitchFamily="34" charset="-128"/>
              </a:rPr>
            </a:br>
            <a:br>
              <a:rPr lang="en-US" altLang="en-US" sz="1400">
                <a:ea typeface="MS PGothic" panose="020B0600070205080204" pitchFamily="34" charset="-128"/>
              </a:rPr>
            </a:br>
            <a:r>
              <a:rPr lang="en-US" altLang="en-US" sz="1400" i="1">
                <a:ea typeface="MS PGothic" panose="020B0600070205080204" pitchFamily="34" charset="-128"/>
              </a:rPr>
              <a:t>Healthcare Services </a:t>
            </a:r>
            <a:br>
              <a:rPr lang="en-US" altLang="en-US" sz="1400" i="1">
                <a:ea typeface="MS PGothic" panose="020B0600070205080204" pitchFamily="34" charset="-128"/>
              </a:rPr>
            </a:br>
            <a:r>
              <a:rPr lang="en-US" altLang="en-US" sz="1400" i="1">
                <a:ea typeface="MS PGothic" panose="020B0600070205080204" pitchFamily="34" charset="-128"/>
              </a:rPr>
              <a:t> - Hospitals</a:t>
            </a:r>
            <a:br>
              <a:rPr lang="en-US" altLang="en-US" sz="1400" i="1">
                <a:ea typeface="MS PGothic" panose="020B0600070205080204" pitchFamily="34" charset="-128"/>
              </a:rPr>
            </a:br>
            <a:r>
              <a:rPr lang="en-US" altLang="en-US" sz="1400" i="1">
                <a:ea typeface="MS PGothic" panose="020B0600070205080204" pitchFamily="34" charset="-128"/>
              </a:rPr>
              <a:t>- Doctor’s Clinics</a:t>
            </a:r>
            <a:br>
              <a:rPr lang="en-US" altLang="en-US" sz="1400" i="1">
                <a:ea typeface="MS PGothic" panose="020B0600070205080204" pitchFamily="34" charset="-128"/>
              </a:rPr>
            </a:br>
            <a:r>
              <a:rPr lang="en-US" altLang="en-US" sz="1400" i="1">
                <a:ea typeface="MS PGothic" panose="020B0600070205080204" pitchFamily="34" charset="-128"/>
              </a:rPr>
              <a:t>- Pharmacies</a:t>
            </a:r>
            <a:br>
              <a:rPr lang="en-US" altLang="en-US" sz="1400" i="1">
                <a:ea typeface="MS PGothic" panose="020B0600070205080204" pitchFamily="34" charset="-128"/>
              </a:rPr>
            </a:br>
            <a:r>
              <a:rPr lang="en-US" altLang="en-US" sz="1400" i="1">
                <a:ea typeface="MS PGothic" panose="020B0600070205080204" pitchFamily="34" charset="-128"/>
              </a:rPr>
              <a:t>- Labs</a:t>
            </a:r>
            <a:br>
              <a:rPr lang="en-US" altLang="en-US" sz="1400" i="1">
                <a:ea typeface="MS PGothic" panose="020B0600070205080204" pitchFamily="34" charset="-128"/>
              </a:rPr>
            </a:br>
            <a:endParaRPr lang="en-US" altLang="en-US" sz="1400" i="1">
              <a:ea typeface="MS PGothic" panose="020B0600070205080204" pitchFamily="34" charset="-128"/>
            </a:endParaRPr>
          </a:p>
        </p:txBody>
      </p:sp>
      <p:sp>
        <p:nvSpPr>
          <p:cNvPr id="133134" name="Rectangle 14"/>
          <p:cNvSpPr>
            <a:spLocks noChangeArrowheads="1"/>
          </p:cNvSpPr>
          <p:nvPr/>
        </p:nvSpPr>
        <p:spPr bwMode="auto">
          <a:xfrm>
            <a:off x="7527925" y="2114550"/>
            <a:ext cx="2744788"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7" tIns="45719" rIns="91437" bIns="45719"/>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eaLnBrk="1" hangingPunct="1">
              <a:spcBef>
                <a:spcPct val="0"/>
              </a:spcBef>
              <a:buClrTx/>
              <a:buSzTx/>
              <a:buFontTx/>
              <a:buNone/>
            </a:pPr>
            <a:r>
              <a:rPr lang="en-US" altLang="en-US" sz="1400" b="1">
                <a:ea typeface="MS PGothic" panose="020B0600070205080204" pitchFamily="34" charset="-128"/>
              </a:rPr>
              <a:t>Healthcare Finance</a:t>
            </a:r>
            <a:r>
              <a:rPr lang="en-US" altLang="en-US" sz="1400">
                <a:ea typeface="MS PGothic" panose="020B0600070205080204" pitchFamily="34" charset="-128"/>
              </a:rPr>
              <a:t>:</a:t>
            </a:r>
            <a:br>
              <a:rPr lang="en-US" altLang="en-US" sz="1400">
                <a:ea typeface="MS PGothic" panose="020B0600070205080204" pitchFamily="34" charset="-128"/>
              </a:rPr>
            </a:br>
            <a:r>
              <a:rPr lang="en-US" altLang="en-US" sz="1400">
                <a:ea typeface="MS PGothic" panose="020B0600070205080204" pitchFamily="34" charset="-128"/>
              </a:rPr>
              <a:t> </a:t>
            </a:r>
            <a:br>
              <a:rPr lang="en-US" altLang="en-US" sz="1400">
                <a:ea typeface="MS PGothic" panose="020B0600070205080204" pitchFamily="34" charset="-128"/>
              </a:rPr>
            </a:br>
            <a:r>
              <a:rPr lang="en-US" altLang="en-US" sz="1400" i="1">
                <a:ea typeface="MS PGothic" panose="020B0600070205080204" pitchFamily="34" charset="-128"/>
              </a:rPr>
              <a:t>Health Plans</a:t>
            </a:r>
            <a:br>
              <a:rPr lang="en-US" altLang="en-US" sz="1400">
                <a:ea typeface="MS PGothic" panose="020B0600070205080204" pitchFamily="34" charset="-128"/>
              </a:rPr>
            </a:br>
            <a:br>
              <a:rPr lang="en-US" altLang="en-US" sz="1400">
                <a:ea typeface="MS PGothic" panose="020B0600070205080204" pitchFamily="34" charset="-128"/>
              </a:rPr>
            </a:br>
            <a:r>
              <a:rPr lang="en-US" altLang="en-US" sz="1400">
                <a:ea typeface="MS PGothic" panose="020B0600070205080204" pitchFamily="34" charset="-128"/>
              </a:rPr>
              <a:t>- </a:t>
            </a:r>
            <a:r>
              <a:rPr lang="en-US" altLang="en-US" sz="1400" i="1">
                <a:ea typeface="MS PGothic" panose="020B0600070205080204" pitchFamily="34" charset="-128"/>
              </a:rPr>
              <a:t>Employer Group Plan </a:t>
            </a:r>
            <a:br>
              <a:rPr lang="en-US" altLang="en-US" sz="1400" i="1">
                <a:ea typeface="MS PGothic" panose="020B0600070205080204" pitchFamily="34" charset="-128"/>
              </a:rPr>
            </a:br>
            <a:r>
              <a:rPr lang="en-US" altLang="en-US" sz="1400" i="1">
                <a:ea typeface="MS PGothic" panose="020B0600070205080204" pitchFamily="34" charset="-128"/>
              </a:rPr>
              <a:t>- Individual Plan</a:t>
            </a:r>
            <a:br>
              <a:rPr lang="en-US" altLang="en-US" sz="1400" i="1">
                <a:ea typeface="MS PGothic" panose="020B0600070205080204" pitchFamily="34" charset="-128"/>
              </a:rPr>
            </a:br>
            <a:r>
              <a:rPr lang="en-US" altLang="en-US" sz="1400" i="1">
                <a:ea typeface="MS PGothic" panose="020B0600070205080204" pitchFamily="34" charset="-128"/>
              </a:rPr>
              <a:t>- Govt. Sponsored Plans</a:t>
            </a:r>
            <a:br>
              <a:rPr lang="en-US" altLang="en-US" sz="1400" i="1">
                <a:ea typeface="MS PGothic" panose="020B0600070205080204" pitchFamily="34" charset="-128"/>
              </a:rPr>
            </a:br>
            <a:r>
              <a:rPr lang="en-US" altLang="en-US" sz="1400" i="1">
                <a:ea typeface="MS PGothic" panose="020B0600070205080204" pitchFamily="34" charset="-128"/>
              </a:rPr>
              <a:t> </a:t>
            </a:r>
            <a:r>
              <a:rPr lang="en-US" altLang="en-US" sz="1400">
                <a:ea typeface="MS PGothic" panose="020B0600070205080204" pitchFamily="34" charset="-128"/>
              </a:rPr>
              <a:t> </a:t>
            </a:r>
          </a:p>
        </p:txBody>
      </p:sp>
      <p:sp>
        <p:nvSpPr>
          <p:cNvPr id="10250" name="Rectangle 16"/>
          <p:cNvSpPr>
            <a:spLocks noGrp="1" noChangeArrowheads="1"/>
          </p:cNvSpPr>
          <p:nvPr>
            <p:ph type="title"/>
          </p:nvPr>
        </p:nvSpPr>
        <p:spPr>
          <a:xfrm>
            <a:off x="838200" y="365125"/>
            <a:ext cx="10515600" cy="828675"/>
          </a:xfrm>
        </p:spPr>
        <p:txBody>
          <a:bodyPr/>
          <a:lstStyle/>
          <a:p>
            <a:pPr algn="ctr" eaLnBrk="1" hangingPunct="1"/>
            <a:r>
              <a:rPr lang="en-US" altLang="en-US" b="1" dirty="0"/>
              <a:t>Healthcare Delivery and Finance</a:t>
            </a:r>
          </a:p>
        </p:txBody>
      </p:sp>
      <p:sp>
        <p:nvSpPr>
          <p:cNvPr id="133128" name="Text Box 8"/>
          <p:cNvSpPr txBox="1">
            <a:spLocks noChangeArrowheads="1"/>
          </p:cNvSpPr>
          <p:nvPr/>
        </p:nvSpPr>
        <p:spPr bwMode="auto">
          <a:xfrm rot="3461253">
            <a:off x="6498432" y="3626644"/>
            <a:ext cx="622300" cy="233363"/>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a:spcBef>
                <a:spcPct val="20000"/>
              </a:spcBef>
              <a:buClr>
                <a:srgbClr val="336699"/>
              </a:buClr>
              <a:buSzPct val="90000"/>
              <a:buFont typeface="Wingdings" panose="05000000000000000000" pitchFamily="2" charset="2"/>
              <a:buChar char="n"/>
              <a:defRPr sz="1600">
                <a:solidFill>
                  <a:schemeClr val="tx1"/>
                </a:solidFill>
                <a:latin typeface="Arial" panose="020B0604020202020204" pitchFamily="34" charset="0"/>
              </a:defRPr>
            </a:lvl1pPr>
            <a:lvl2pPr marL="742950" indent="-285750">
              <a:spcBef>
                <a:spcPct val="20000"/>
              </a:spcBef>
              <a:buClr>
                <a:schemeClr val="tx1"/>
              </a:buClr>
              <a:buChar char="–"/>
              <a:defRPr sz="1400">
                <a:solidFill>
                  <a:schemeClr val="tx1"/>
                </a:solidFill>
                <a:latin typeface="Arial" panose="020B0604020202020204" pitchFamily="34" charset="0"/>
              </a:defRPr>
            </a:lvl2pPr>
            <a:lvl3pPr marL="1143000" indent="-228600">
              <a:spcBef>
                <a:spcPct val="20000"/>
              </a:spcBef>
              <a:buClr>
                <a:schemeClr val="tx1"/>
              </a:buClr>
              <a:buChar char="•"/>
              <a:defRPr sz="1200">
                <a:solidFill>
                  <a:schemeClr val="tx1"/>
                </a:solidFill>
                <a:latin typeface="Arial" panose="020B0604020202020204" pitchFamily="34" charset="0"/>
              </a:defRPr>
            </a:lvl3pPr>
            <a:lvl4pPr marL="1600200" indent="-228600">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000">
                <a:solidFill>
                  <a:schemeClr val="tx1"/>
                </a:solidFill>
                <a:latin typeface="Arial" panose="020B0604020202020204" pitchFamily="34" charset="0"/>
              </a:defRPr>
            </a:lvl9pPr>
          </a:lstStyle>
          <a:p>
            <a:pPr algn="ctr" eaLnBrk="1" hangingPunct="1">
              <a:lnSpc>
                <a:spcPct val="85000"/>
              </a:lnSpc>
              <a:spcBef>
                <a:spcPct val="0"/>
              </a:spcBef>
              <a:buClrTx/>
              <a:buSzTx/>
              <a:buFont typeface="Wingdings" panose="05000000000000000000" pitchFamily="2" charset="2"/>
              <a:buNone/>
            </a:pPr>
            <a:r>
              <a:rPr lang="en-US" altLang="en-US" sz="1800" b="1">
                <a:solidFill>
                  <a:schemeClr val="bg1"/>
                </a:solidFill>
                <a:cs typeface="Arial" panose="020B0604020202020204" pitchFamily="34" charset="0"/>
              </a:rPr>
              <a:t>Payer</a:t>
            </a:r>
          </a:p>
        </p:txBody>
      </p:sp>
    </p:spTree>
    <p:extLst>
      <p:ext uri="{BB962C8B-B14F-4D97-AF65-F5344CB8AC3E}">
        <p14:creationId xmlns:p14="http://schemas.microsoft.com/office/powerpoint/2010/main" val="2741026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1" presetClass="entr" presetSubtype="0" fill="hold" nodeType="clickEffect">
                                  <p:stCondLst>
                                    <p:cond delay="0"/>
                                  </p:stCondLst>
                                  <p:iterate type="lt">
                                    <p:tmPct val="5000"/>
                                  </p:iterate>
                                  <p:childTnLst>
                                    <p:set>
                                      <p:cBhvr>
                                        <p:cTn id="10" dur="1" fill="hold">
                                          <p:stCondLst>
                                            <p:cond delay="0"/>
                                          </p:stCondLst>
                                        </p:cTn>
                                        <p:tgtEl>
                                          <p:spTgt spid="133142"/>
                                        </p:tgtEl>
                                        <p:attrNameLst>
                                          <p:attrName>style.visibility</p:attrName>
                                        </p:attrNameLst>
                                      </p:cBhvr>
                                      <p:to>
                                        <p:strVal val="visible"/>
                                      </p:to>
                                    </p:set>
                                    <p:anim calcmode="lin" valueType="num">
                                      <p:cBhvr>
                                        <p:cTn id="11" dur="1000" fill="hold"/>
                                        <p:tgtEl>
                                          <p:spTgt spid="133142"/>
                                        </p:tgtEl>
                                        <p:attrNameLst>
                                          <p:attrName>ppt_w</p:attrName>
                                        </p:attrNameLst>
                                      </p:cBhvr>
                                      <p:tavLst>
                                        <p:tav tm="0">
                                          <p:val>
                                            <p:fltVal val="0"/>
                                          </p:val>
                                        </p:tav>
                                        <p:tav tm="100000">
                                          <p:val>
                                            <p:strVal val="#ppt_w"/>
                                          </p:val>
                                        </p:tav>
                                      </p:tavLst>
                                    </p:anim>
                                    <p:anim calcmode="lin" valueType="num">
                                      <p:cBhvr>
                                        <p:cTn id="12" dur="1000" fill="hold"/>
                                        <p:tgtEl>
                                          <p:spTgt spid="133142"/>
                                        </p:tgtEl>
                                        <p:attrNameLst>
                                          <p:attrName>ppt_h</p:attrName>
                                        </p:attrNameLst>
                                      </p:cBhvr>
                                      <p:tavLst>
                                        <p:tav tm="0">
                                          <p:val>
                                            <p:fltVal val="0"/>
                                          </p:val>
                                        </p:tav>
                                        <p:tav tm="100000">
                                          <p:val>
                                            <p:strVal val="#ppt_h"/>
                                          </p:val>
                                        </p:tav>
                                      </p:tavLst>
                                    </p:anim>
                                    <p:anim calcmode="lin" valueType="num">
                                      <p:cBhvr>
                                        <p:cTn id="13" dur="1000" fill="hold"/>
                                        <p:tgtEl>
                                          <p:spTgt spid="133142"/>
                                        </p:tgtEl>
                                        <p:attrNameLst>
                                          <p:attrName>style.rotation</p:attrName>
                                        </p:attrNameLst>
                                      </p:cBhvr>
                                      <p:tavLst>
                                        <p:tav tm="0">
                                          <p:val>
                                            <p:fltVal val="90"/>
                                          </p:val>
                                        </p:tav>
                                        <p:tav tm="100000">
                                          <p:val>
                                            <p:fltVal val="0"/>
                                          </p:val>
                                        </p:tav>
                                      </p:tavLst>
                                    </p:anim>
                                    <p:animEffect transition="in" filter="fade">
                                      <p:cBhvr>
                                        <p:cTn id="14" dur="1000"/>
                                        <p:tgtEl>
                                          <p:spTgt spid="13314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2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3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3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2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9" grpId="0"/>
      <p:bldP spid="133131" grpId="0"/>
      <p:bldP spid="133132" grpId="0"/>
      <p:bldP spid="133133" grpId="0"/>
      <p:bldP spid="133134" grpId="0"/>
      <p:bldP spid="1331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25003"/>
            <a:ext cx="10515600" cy="5751960"/>
          </a:xfrm>
        </p:spPr>
        <p:txBody>
          <a:bodyPr/>
          <a:lstStyle/>
          <a:p>
            <a:r>
              <a:rPr lang="en-US" altLang="en-US" b="1" dirty="0"/>
              <a:t>Providers:</a:t>
            </a:r>
            <a:r>
              <a:rPr lang="en-US" altLang="en-US" dirty="0"/>
              <a:t> Hospitals, Doctors, Clinics or Individual practitioners who contracts with the health insurance company to provide services to the member.</a:t>
            </a:r>
          </a:p>
          <a:p>
            <a:r>
              <a:rPr lang="en-US" altLang="en-US" b="1" dirty="0"/>
              <a:t>Payers:</a:t>
            </a:r>
            <a:r>
              <a:rPr lang="en-US" altLang="en-US" dirty="0"/>
              <a:t> A payer is anyone who provides funding for and/or administration of care. They ensure that the financial requirements for any necessary medical procedure, consultation, or medicine are met on behalf of the consumer. </a:t>
            </a:r>
          </a:p>
          <a:p>
            <a:r>
              <a:rPr lang="en-US" altLang="en-US" b="1" dirty="0"/>
              <a:t>Subscriber/Patients/policyholder:</a:t>
            </a:r>
            <a:r>
              <a:rPr lang="en-US" altLang="en-US" dirty="0"/>
              <a:t> An individual who contracts with the health insurance company.</a:t>
            </a:r>
          </a:p>
          <a:p>
            <a:endParaRPr lang="en-US" dirty="0"/>
          </a:p>
        </p:txBody>
      </p:sp>
    </p:spTree>
    <p:extLst>
      <p:ext uri="{BB962C8B-B14F-4D97-AF65-F5344CB8AC3E}">
        <p14:creationId xmlns:p14="http://schemas.microsoft.com/office/powerpoint/2010/main" val="2172255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Insurance/Insurance Policy/Health Insurance</a:t>
            </a:r>
          </a:p>
        </p:txBody>
      </p:sp>
      <p:sp>
        <p:nvSpPr>
          <p:cNvPr id="3" name="Content Placeholder 2"/>
          <p:cNvSpPr>
            <a:spLocks noGrp="1"/>
          </p:cNvSpPr>
          <p:nvPr>
            <p:ph idx="1"/>
          </p:nvPr>
        </p:nvSpPr>
        <p:spPr/>
        <p:txBody>
          <a:bodyPr>
            <a:normAutofit fontScale="92500" lnSpcReduction="10000"/>
          </a:bodyPr>
          <a:lstStyle/>
          <a:p>
            <a:r>
              <a:rPr lang="en-US" sz="2600" b="1" dirty="0"/>
              <a:t>Insurance</a:t>
            </a:r>
            <a:r>
              <a:rPr lang="en-US" sz="2600" dirty="0"/>
              <a:t>-It is a method to safeguard the insurance policy holders against certain types of risk. </a:t>
            </a:r>
          </a:p>
          <a:p>
            <a:pPr>
              <a:defRPr/>
            </a:pPr>
            <a:r>
              <a:rPr lang="en-US" sz="2600" dirty="0"/>
              <a:t>In Insurance, the </a:t>
            </a:r>
            <a:r>
              <a:rPr lang="en-US" sz="2600" b="1" dirty="0"/>
              <a:t>Insurance policy</a:t>
            </a:r>
            <a:r>
              <a:rPr lang="en-US" sz="2600" dirty="0"/>
              <a:t> is a contract (generally a standard form contract) between the insurer and the insured, known as the policyholder, which determines the claims which the insurer is legally required to pay. In exchange for an initial payment, known as the </a:t>
            </a:r>
            <a:r>
              <a:rPr lang="en-US" sz="2600" b="1" dirty="0"/>
              <a:t>premium</a:t>
            </a:r>
            <a:r>
              <a:rPr lang="en-US" sz="2600" dirty="0"/>
              <a:t>, the insurer promises to pay for loss caused by perils covered under the policy language.</a:t>
            </a:r>
          </a:p>
          <a:p>
            <a:pPr>
              <a:defRPr/>
            </a:pPr>
            <a:r>
              <a:rPr lang="en-US" sz="2600" dirty="0"/>
              <a:t>It has various types of insurance like </a:t>
            </a:r>
            <a:r>
              <a:rPr lang="en-US" sz="2600" b="1" dirty="0"/>
              <a:t>Health, Accidental, Property, Life, Travel, </a:t>
            </a:r>
            <a:r>
              <a:rPr lang="en-US" sz="2600" dirty="0"/>
              <a:t>etc.</a:t>
            </a:r>
          </a:p>
          <a:p>
            <a:pPr>
              <a:defRPr/>
            </a:pPr>
            <a:r>
              <a:rPr lang="en-US" altLang="en-US" sz="2600" dirty="0"/>
              <a:t>A </a:t>
            </a:r>
            <a:r>
              <a:rPr lang="en-US" altLang="en-US" sz="2600" b="1" dirty="0"/>
              <a:t>health Insurance</a:t>
            </a:r>
            <a:r>
              <a:rPr lang="en-US" altLang="en-US" sz="2600" dirty="0"/>
              <a:t> policy is a contract between the Insurance Corporation (payer) and an individual/Group (Policyholder) to provide health insurance coverage for a premium amount based on the policy type. </a:t>
            </a:r>
          </a:p>
          <a:p>
            <a:pPr>
              <a:defRPr/>
            </a:pPr>
            <a:endParaRPr lang="en-US" dirty="0"/>
          </a:p>
          <a:p>
            <a:endParaRPr lang="en-US" dirty="0"/>
          </a:p>
        </p:txBody>
      </p:sp>
    </p:spTree>
    <p:extLst>
      <p:ext uri="{BB962C8B-B14F-4D97-AF65-F5344CB8AC3E}">
        <p14:creationId xmlns:p14="http://schemas.microsoft.com/office/powerpoint/2010/main" val="240496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752600" y="92076"/>
            <a:ext cx="7727950" cy="1050925"/>
          </a:xfrm>
        </p:spPr>
        <p:txBody>
          <a:bodyPr/>
          <a:lstStyle/>
          <a:p>
            <a:pPr eaLnBrk="1" hangingPunct="1"/>
            <a:r>
              <a:rPr lang="en-US" altLang="en-US" dirty="0"/>
              <a:t>	</a:t>
            </a:r>
            <a:r>
              <a:rPr lang="en-US" altLang="en-US" b="1" dirty="0"/>
              <a:t>Insurance terminologies</a:t>
            </a:r>
          </a:p>
        </p:txBody>
      </p:sp>
      <p:sp>
        <p:nvSpPr>
          <p:cNvPr id="13316" name="Rectangle 4"/>
          <p:cNvSpPr>
            <a:spLocks noGrp="1" noChangeArrowheads="1"/>
          </p:cNvSpPr>
          <p:nvPr>
            <p:ph type="body" idx="1"/>
          </p:nvPr>
        </p:nvSpPr>
        <p:spPr>
          <a:xfrm>
            <a:off x="940157" y="1341438"/>
            <a:ext cx="10612191" cy="4799012"/>
          </a:xfrm>
          <a:noFill/>
        </p:spPr>
        <p:txBody>
          <a:bodyPr vert="horz" lIns="105541" tIns="51845" rIns="105541" bIns="51845" rtlCol="0">
            <a:normAutofit fontScale="85000" lnSpcReduction="20000"/>
          </a:bodyPr>
          <a:lstStyle/>
          <a:p>
            <a:pPr eaLnBrk="1" hangingPunct="1"/>
            <a:r>
              <a:rPr lang="en-US" altLang="en-US" b="1" dirty="0"/>
              <a:t>Association: </a:t>
            </a:r>
            <a:r>
              <a:rPr lang="en-US" altLang="en-US" dirty="0"/>
              <a:t>A group. Often, associations can offer individual health insurance plans specially designed for their members.</a:t>
            </a:r>
          </a:p>
          <a:p>
            <a:pPr eaLnBrk="1" hangingPunct="1"/>
            <a:r>
              <a:rPr lang="en-US" altLang="en-US" sz="2900" b="1" dirty="0"/>
              <a:t>Basic Premium</a:t>
            </a:r>
            <a:r>
              <a:rPr lang="en-US" altLang="en-US" sz="2600" dirty="0"/>
              <a:t>: </a:t>
            </a:r>
            <a:r>
              <a:rPr lang="en-US" altLang="en-US" dirty="0"/>
              <a:t>A percentage of the standard premium that covers the initial administrative expenses the insurance company incurs while designing your policy. </a:t>
            </a:r>
          </a:p>
          <a:p>
            <a:r>
              <a:rPr lang="en-US" altLang="en-US" b="1" dirty="0"/>
              <a:t>Deductible</a:t>
            </a:r>
            <a:r>
              <a:rPr lang="en-US" altLang="en-US" dirty="0"/>
              <a:t>: The amount of money you must pay for medical care expenses before your insurance policy starts reimbursing you. This amount must be met each year.</a:t>
            </a:r>
          </a:p>
          <a:p>
            <a:pPr eaLnBrk="1" hangingPunct="1"/>
            <a:r>
              <a:rPr lang="en-US" altLang="en-US" b="1" dirty="0"/>
              <a:t>Co-Insurance:</a:t>
            </a:r>
            <a:r>
              <a:rPr lang="en-US" altLang="en-US" dirty="0"/>
              <a:t> Co-insurance refers to money that an individual is required to pay for services, after a deductible has been paid. Co-insurance is often specified by a percentage. For example, the employee pays 20 percent toward the charges for a service and the employer or insurance company pays 80 percent.</a:t>
            </a:r>
          </a:p>
          <a:p>
            <a:pPr eaLnBrk="1" hangingPunct="1"/>
            <a:r>
              <a:rPr lang="en-US" altLang="en-US" b="1" dirty="0"/>
              <a:t>Co-Payment:</a:t>
            </a:r>
            <a:r>
              <a:rPr lang="en-US" altLang="en-US" dirty="0"/>
              <a:t> Co-payment is a predetermined (flat) fee that an individual pays for health care services, in addition to what the insurance covers. For example, some HMOs require a $10 "co-payment" for each office visit, regardless of the type or level of services provided during the visit. Co-payments are not usually specified by percentages.</a:t>
            </a:r>
          </a:p>
          <a:p>
            <a:pPr eaLnBrk="1" hangingPunct="1"/>
            <a:endParaRPr lang="en-US" altLang="en-US" dirty="0"/>
          </a:p>
        </p:txBody>
      </p:sp>
    </p:spTree>
    <p:extLst>
      <p:ext uri="{BB962C8B-B14F-4D97-AF65-F5344CB8AC3E}">
        <p14:creationId xmlns:p14="http://schemas.microsoft.com/office/powerpoint/2010/main" val="16978583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Types of Health Insurance in U.S.</a:t>
            </a:r>
            <a:endParaRPr lang="en-US" b="1" dirty="0"/>
          </a:p>
        </p:txBody>
      </p:sp>
      <p:sp>
        <p:nvSpPr>
          <p:cNvPr id="3" name="Content Placeholder 2"/>
          <p:cNvSpPr>
            <a:spLocks noGrp="1"/>
          </p:cNvSpPr>
          <p:nvPr>
            <p:ph idx="1"/>
          </p:nvPr>
        </p:nvSpPr>
        <p:spPr/>
        <p:txBody>
          <a:bodyPr>
            <a:normAutofit fontScale="92500" lnSpcReduction="20000"/>
          </a:bodyPr>
          <a:lstStyle/>
          <a:p>
            <a:pPr>
              <a:defRPr/>
            </a:pPr>
            <a:r>
              <a:rPr lang="en-US" b="1" dirty="0"/>
              <a:t>Individual Insurance:</a:t>
            </a:r>
            <a:r>
              <a:rPr lang="en-US" dirty="0"/>
              <a:t> Individual health insurance covers the medical expenses of one Individual or family. Generally, the premium is calculated based on the risk involved. The risk is determined by the policyholder’s age, physical condition and also a medical examination is conducted to determine it. Premium is very high in this type of insurance.</a:t>
            </a:r>
          </a:p>
          <a:p>
            <a:pPr>
              <a:defRPr/>
            </a:pPr>
            <a:r>
              <a:rPr lang="en-US" b="1" dirty="0"/>
              <a:t>Group Insurance:</a:t>
            </a:r>
            <a:r>
              <a:rPr lang="en-US" dirty="0"/>
              <a:t> Single policy covers the medical expenses of many people under same group. The premium is calculated based on the characteristics of the group as a whole, such as average age and degree of occupational hazard.  There is no need of a physical examination. Premium is relatively lower.</a:t>
            </a:r>
          </a:p>
          <a:p>
            <a:pPr>
              <a:defRPr/>
            </a:pPr>
            <a:r>
              <a:rPr lang="en-US" b="1" dirty="0"/>
              <a:t>Government Insurance:</a:t>
            </a:r>
            <a:r>
              <a:rPr lang="en-US" dirty="0"/>
              <a:t> This insurance is for two kind of people mentioned below: Medicare (senior retired population aged 65 or older) and Medicaid (Low income population).</a:t>
            </a:r>
          </a:p>
          <a:p>
            <a:endParaRPr lang="en-US" dirty="0"/>
          </a:p>
        </p:txBody>
      </p:sp>
    </p:spTree>
    <p:extLst>
      <p:ext uri="{BB962C8B-B14F-4D97-AF65-F5344CB8AC3E}">
        <p14:creationId xmlns:p14="http://schemas.microsoft.com/office/powerpoint/2010/main" val="2552062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636"/>
            <a:ext cx="10515600" cy="1325563"/>
          </a:xfrm>
        </p:spPr>
        <p:txBody>
          <a:bodyPr/>
          <a:lstStyle/>
          <a:p>
            <a:r>
              <a:rPr lang="en-US" b="1" dirty="0"/>
              <a:t>In-Network and Out of Network Providers</a:t>
            </a:r>
          </a:p>
        </p:txBody>
      </p:sp>
      <p:sp>
        <p:nvSpPr>
          <p:cNvPr id="3" name="Content Placeholder 2"/>
          <p:cNvSpPr>
            <a:spLocks noGrp="1"/>
          </p:cNvSpPr>
          <p:nvPr>
            <p:ph idx="1"/>
          </p:nvPr>
        </p:nvSpPr>
        <p:spPr/>
        <p:txBody>
          <a:bodyPr/>
          <a:lstStyle/>
          <a:p>
            <a:r>
              <a:rPr lang="en-US" dirty="0"/>
              <a:t>A </a:t>
            </a:r>
            <a:r>
              <a:rPr lang="en-US" b="1" dirty="0"/>
              <a:t>provider network</a:t>
            </a:r>
            <a:r>
              <a:rPr lang="en-US" dirty="0"/>
              <a:t> is a list of the doctors, other health care </a:t>
            </a:r>
            <a:r>
              <a:rPr lang="en-US" b="1" dirty="0"/>
              <a:t>providers</a:t>
            </a:r>
            <a:r>
              <a:rPr lang="en-US" dirty="0"/>
              <a:t>, and hospitals that a plan has contracted with to provide medical care to its members. These </a:t>
            </a:r>
            <a:r>
              <a:rPr lang="en-US" b="1" dirty="0"/>
              <a:t>providers</a:t>
            </a:r>
            <a:r>
              <a:rPr lang="en-US" dirty="0"/>
              <a:t> are called “</a:t>
            </a:r>
            <a:r>
              <a:rPr lang="en-US" b="1" dirty="0"/>
              <a:t>network providers</a:t>
            </a:r>
            <a:r>
              <a:rPr lang="en-US" dirty="0"/>
              <a:t>” or “</a:t>
            </a:r>
            <a:r>
              <a:rPr lang="en-US" b="1" dirty="0"/>
              <a:t>in-network providers</a:t>
            </a:r>
            <a:r>
              <a:rPr lang="en-US" dirty="0"/>
              <a:t>.”</a:t>
            </a:r>
          </a:p>
          <a:p>
            <a:r>
              <a:rPr lang="en-US" dirty="0"/>
              <a:t>An </a:t>
            </a:r>
            <a:r>
              <a:rPr lang="en-US" b="1" dirty="0"/>
              <a:t>out-of-network provider</a:t>
            </a:r>
            <a:r>
              <a:rPr lang="en-US" dirty="0"/>
              <a:t> is one which has not contracted with your insurance company for reimbursement at a negotiated rate, which means that as the patient, you would be responsible for the full amount charged by your doctor.</a:t>
            </a:r>
          </a:p>
          <a:p>
            <a:endParaRPr lang="en-US" dirty="0"/>
          </a:p>
        </p:txBody>
      </p:sp>
    </p:spTree>
    <p:extLst>
      <p:ext uri="{BB962C8B-B14F-4D97-AF65-F5344CB8AC3E}">
        <p14:creationId xmlns:p14="http://schemas.microsoft.com/office/powerpoint/2010/main" val="1571559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TotalTime>
  <Words>969</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Times New Roman</vt:lpstr>
      <vt:lpstr>Verdana</vt:lpstr>
      <vt:lpstr>Wingdings</vt:lpstr>
      <vt:lpstr>Office Theme</vt:lpstr>
      <vt:lpstr>Healthcare in U.S.</vt:lpstr>
      <vt:lpstr>Top US Health Insurers &amp; US Health Insurance Market Share</vt:lpstr>
      <vt:lpstr>What does Health Insurance Provide?</vt:lpstr>
      <vt:lpstr>Healthcare Delivery and Finance</vt:lpstr>
      <vt:lpstr>PowerPoint Presentation</vt:lpstr>
      <vt:lpstr>Insurance/Insurance Policy/Health Insurance</vt:lpstr>
      <vt:lpstr> Insurance terminologies</vt:lpstr>
      <vt:lpstr>Types of Health Insurance in U.S.</vt:lpstr>
      <vt:lpstr>In-Network and Out of Network Providers</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Healthcare</dc:title>
  <dc:creator>Ghosh, Joyita A.</dc:creator>
  <cp:lastModifiedBy>Vardhan Vankayala, A.</cp:lastModifiedBy>
  <cp:revision>13</cp:revision>
  <dcterms:created xsi:type="dcterms:W3CDTF">2016-11-14T06:06:48Z</dcterms:created>
  <dcterms:modified xsi:type="dcterms:W3CDTF">2020-11-17T12:40:09Z</dcterms:modified>
</cp:coreProperties>
</file>