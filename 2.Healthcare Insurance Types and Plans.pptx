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9" r:id="rId3"/>
    <p:sldId id="263" r:id="rId4"/>
    <p:sldId id="285" r:id="rId5"/>
    <p:sldId id="261" r:id="rId6"/>
    <p:sldId id="265" r:id="rId7"/>
    <p:sldId id="267" r:id="rId8"/>
    <p:sldId id="269" r:id="rId9"/>
    <p:sldId id="271" r:id="rId10"/>
    <p:sldId id="273" r:id="rId11"/>
    <p:sldId id="275" r:id="rId12"/>
    <p:sldId id="277" r:id="rId13"/>
    <p:sldId id="279" r:id="rId14"/>
    <p:sldId id="281" r:id="rId15"/>
    <p:sldId id="28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14C613-3628-4741-BA18-27F2E0FAA7EE}" type="datetimeFigureOut">
              <a:rPr lang="en-US" smtClean="0"/>
              <a:t>11/29/2016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41693-ADDD-4024-AA7E-AC54A0F7589E}" type="slidenum">
              <a:rPr lang="en-US" smtClean="0"/>
              <a:t>‹#›</a:t>
            </a:fld>
            <a:endParaRPr lang="en-US"/>
          </a:p>
        </p:txBody>
      </p:sp>
    </p:spTree>
    <p:extLst>
      <p:ext uri="{BB962C8B-B14F-4D97-AF65-F5344CB8AC3E}">
        <p14:creationId xmlns:p14="http://schemas.microsoft.com/office/powerpoint/2010/main" val="431870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smtClean="0">
                <a:latin typeface="Times New Roman" panose="02020603050405020304" pitchFamily="18" charset="0"/>
              </a:rPr>
              <a:t>Other advantages of EPOs include their suitability for rural areas where other types of health care organizations may be absent. The principal disadvantage of EPOs is that their rules are restrictive and they tend to have fewer doctors than HMOs. If an EPO policyholder must see a physician outside the network, the policyholder will have to pay the full rate without reimbursement.</a:t>
            </a:r>
          </a:p>
        </p:txBody>
      </p:sp>
    </p:spTree>
    <p:extLst>
      <p:ext uri="{BB962C8B-B14F-4D97-AF65-F5344CB8AC3E}">
        <p14:creationId xmlns:p14="http://schemas.microsoft.com/office/powerpoint/2010/main" val="3750851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smtClean="0">
                <a:latin typeface="Times New Roman" panose="02020603050405020304" pitchFamily="18" charset="0"/>
              </a:rPr>
              <a:t>Medicare has evolved into 4 coverage segments:</a:t>
            </a:r>
          </a:p>
          <a:p>
            <a:r>
              <a:rPr lang="en-US" altLang="en-US" smtClean="0">
                <a:latin typeface="Times New Roman" panose="02020603050405020304" pitchFamily="18" charset="0"/>
              </a:rPr>
              <a:t>Part A – Hospital Insurance</a:t>
            </a:r>
          </a:p>
          <a:p>
            <a:pPr lvl="1"/>
            <a:r>
              <a:rPr lang="en-US" altLang="en-US" smtClean="0">
                <a:latin typeface="Times New Roman" panose="02020603050405020304" pitchFamily="18" charset="0"/>
              </a:rPr>
              <a:t>Inpatient hospital stays and skilled nursing facility stays</a:t>
            </a:r>
          </a:p>
          <a:p>
            <a:r>
              <a:rPr lang="en-US" altLang="en-US" smtClean="0">
                <a:latin typeface="Times New Roman" panose="02020603050405020304" pitchFamily="18" charset="0"/>
              </a:rPr>
              <a:t>Part B – Medical Insurance (Outpatient type services)</a:t>
            </a:r>
          </a:p>
          <a:p>
            <a:pPr lvl="1"/>
            <a:r>
              <a:rPr lang="en-US" altLang="en-US" smtClean="0">
                <a:latin typeface="Times New Roman" panose="02020603050405020304" pitchFamily="18" charset="0"/>
              </a:rPr>
              <a:t>Physician and nursing services, lab tests, outpatient procedures and medical devices</a:t>
            </a:r>
            <a:endParaRPr lang="en-US" altLang="en-US" sz="1800" smtClean="0">
              <a:latin typeface="Times New Roman" panose="02020603050405020304" pitchFamily="18" charset="0"/>
            </a:endParaRPr>
          </a:p>
          <a:p>
            <a:r>
              <a:rPr lang="en-US" altLang="en-US" smtClean="0">
                <a:latin typeface="Times New Roman" panose="02020603050405020304" pitchFamily="18" charset="0"/>
              </a:rPr>
              <a:t>Part C – Medicare Advantage </a:t>
            </a:r>
          </a:p>
          <a:p>
            <a:pPr lvl="1"/>
            <a:r>
              <a:rPr lang="en-US" altLang="en-US" smtClean="0">
                <a:latin typeface="Times New Roman" panose="02020603050405020304" pitchFamily="18" charset="0"/>
              </a:rPr>
              <a:t>Allows beneficiaries to receive Part A and B benefits through private health insurance plans</a:t>
            </a:r>
          </a:p>
          <a:p>
            <a:pPr lvl="1"/>
            <a:r>
              <a:rPr lang="en-US" altLang="en-US" smtClean="0">
                <a:latin typeface="Times New Roman" panose="02020603050405020304" pitchFamily="18" charset="0"/>
              </a:rPr>
              <a:t>Part D – Prescription Drug Plan</a:t>
            </a:r>
          </a:p>
          <a:p>
            <a:pPr lvl="1"/>
            <a:r>
              <a:rPr lang="en-US" altLang="en-US" smtClean="0">
                <a:latin typeface="Times New Roman" panose="02020603050405020304" pitchFamily="18" charset="0"/>
              </a:rPr>
              <a:t>Subsidize prescription drug costs for Part A and B beneficiaries</a:t>
            </a:r>
          </a:p>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875298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A8B2E3F-FE6A-45E0-B4CB-F02823298BE3}" type="datetimeFigureOut">
              <a:rPr lang="en-US" smtClean="0"/>
              <a:t>11/29/2016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324540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8B2E3F-FE6A-45E0-B4CB-F02823298BE3}" type="datetimeFigureOut">
              <a:rPr lang="en-US" smtClean="0"/>
              <a:t>11/29/2016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4051326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8B2E3F-FE6A-45E0-B4CB-F02823298BE3}" type="datetimeFigureOut">
              <a:rPr lang="en-US" smtClean="0"/>
              <a:t>11/29/2016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1856439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A8B2E3F-FE6A-45E0-B4CB-F02823298BE3}" type="datetimeFigureOut">
              <a:rPr lang="en-US" smtClean="0"/>
              <a:t>11/29/2016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1457032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A8B2E3F-FE6A-45E0-B4CB-F02823298BE3}" type="datetimeFigureOut">
              <a:rPr lang="en-US" smtClean="0"/>
              <a:t>11/29/2016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3358888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A8B2E3F-FE6A-45E0-B4CB-F02823298BE3}" type="datetimeFigureOut">
              <a:rPr lang="en-US" smtClean="0"/>
              <a:t>11/29/2016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848395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8B2E3F-FE6A-45E0-B4CB-F02823298BE3}" type="datetimeFigureOut">
              <a:rPr lang="en-US" smtClean="0"/>
              <a:t>11/29/2016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3489402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8B2E3F-FE6A-45E0-B4CB-F02823298BE3}" type="datetimeFigureOut">
              <a:rPr lang="en-US" smtClean="0"/>
              <a:t>11/29/2016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121229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8B2E3F-FE6A-45E0-B4CB-F02823298BE3}" type="datetimeFigureOut">
              <a:rPr lang="en-US" smtClean="0"/>
              <a:t>11/29/2016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1185494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8B2E3F-FE6A-45E0-B4CB-F02823298BE3}" type="datetimeFigureOut">
              <a:rPr lang="en-US" smtClean="0"/>
              <a:t>11/29/2016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194863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8B2E3F-FE6A-45E0-B4CB-F02823298BE3}" type="datetimeFigureOut">
              <a:rPr lang="en-US" smtClean="0"/>
              <a:t>11/29/2016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FCAEC-BDB8-4175-8AC3-993DCA3E1AE5}" type="slidenum">
              <a:rPr lang="en-US" smtClean="0"/>
              <a:t>‹#›</a:t>
            </a:fld>
            <a:endParaRPr lang="en-US"/>
          </a:p>
        </p:txBody>
      </p:sp>
    </p:spTree>
    <p:extLst>
      <p:ext uri="{BB962C8B-B14F-4D97-AF65-F5344CB8AC3E}">
        <p14:creationId xmlns:p14="http://schemas.microsoft.com/office/powerpoint/2010/main" val="3521157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8B2E3F-FE6A-45E0-B4CB-F02823298BE3}" type="datetimeFigureOut">
              <a:rPr lang="en-US" smtClean="0"/>
              <a:t>11/29/2016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5FCAEC-BDB8-4175-8AC3-993DCA3E1AE5}" type="slidenum">
              <a:rPr lang="en-US" smtClean="0"/>
              <a:t>‹#›</a:t>
            </a:fld>
            <a:endParaRPr lang="en-US"/>
          </a:p>
        </p:txBody>
      </p:sp>
    </p:spTree>
    <p:extLst>
      <p:ext uri="{BB962C8B-B14F-4D97-AF65-F5344CB8AC3E}">
        <p14:creationId xmlns:p14="http://schemas.microsoft.com/office/powerpoint/2010/main" val="3817431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Healthcare Overview</a:t>
            </a:r>
            <a:endParaRPr lang="en-US" dirty="0"/>
          </a:p>
        </p:txBody>
      </p:sp>
    </p:spTree>
    <p:extLst>
      <p:ext uri="{BB962C8B-B14F-4D97-AF65-F5344CB8AC3E}">
        <p14:creationId xmlns:p14="http://schemas.microsoft.com/office/powerpoint/2010/main" val="1369029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smtClean="0"/>
              <a:t>Types of Health Insurance in US</a:t>
            </a:r>
          </a:p>
        </p:txBody>
      </p:sp>
      <p:sp>
        <p:nvSpPr>
          <p:cNvPr id="3" name="Content Placeholder 2"/>
          <p:cNvSpPr>
            <a:spLocks noGrp="1"/>
          </p:cNvSpPr>
          <p:nvPr>
            <p:ph idx="1"/>
          </p:nvPr>
        </p:nvSpPr>
        <p:spPr/>
        <p:txBody>
          <a:bodyPr/>
          <a:lstStyle/>
          <a:p>
            <a:pPr>
              <a:defRPr/>
            </a:pPr>
            <a:r>
              <a:rPr lang="en-US" sz="1714" b="1" dirty="0"/>
              <a:t>Individual Insurance:</a:t>
            </a:r>
            <a:r>
              <a:rPr lang="en-US" sz="1714" dirty="0"/>
              <a:t> Individual health insurance covers the medical expenses of one Individual or family. Generally, the premium is calculated based on the risk involved. The risk is determined by the policyholder’s age, physical condition and also a medical examination is conducted to determine it. Premium is very high in this type of insurance.</a:t>
            </a:r>
          </a:p>
          <a:p>
            <a:pPr>
              <a:defRPr/>
            </a:pPr>
            <a:r>
              <a:rPr lang="en-US" sz="1714" b="1" dirty="0"/>
              <a:t>Group Insurance:</a:t>
            </a:r>
            <a:r>
              <a:rPr lang="en-US" sz="1714" dirty="0"/>
              <a:t> Single policy covers the medical expenses of many people under same group. The premium is calculated based on the characteristics of the group as a whole, such as average age and degree of occupational hazard.  There is no need of a physical examination. Premium is relatively lower.</a:t>
            </a:r>
          </a:p>
          <a:p>
            <a:pPr>
              <a:defRPr/>
            </a:pPr>
            <a:r>
              <a:rPr lang="en-US" sz="1714" b="1" dirty="0"/>
              <a:t>Government Insurance:</a:t>
            </a:r>
            <a:r>
              <a:rPr lang="en-US" sz="1714" dirty="0"/>
              <a:t> This insurance is for two kind of people mentioned below: Medicare (senior retired population aged 65 or older) and Medicaid (Low income population).</a:t>
            </a:r>
          </a:p>
          <a:p>
            <a:pPr marL="0" indent="0">
              <a:buNone/>
              <a:defRPr/>
            </a:pPr>
            <a:endParaRPr lang="en-US" sz="1543" dirty="0"/>
          </a:p>
        </p:txBody>
      </p:sp>
    </p:spTree>
    <p:extLst>
      <p:ext uri="{BB962C8B-B14F-4D97-AF65-F5344CB8AC3E}">
        <p14:creationId xmlns:p14="http://schemas.microsoft.com/office/powerpoint/2010/main" val="19382727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752600" y="92076"/>
            <a:ext cx="7727950" cy="1050925"/>
          </a:xfrm>
        </p:spPr>
        <p:txBody>
          <a:bodyPr/>
          <a:lstStyle/>
          <a:p>
            <a:pPr eaLnBrk="1" hangingPunct="1"/>
            <a:r>
              <a:rPr lang="en-US" altLang="en-US" dirty="0" smtClean="0"/>
              <a:t>	</a:t>
            </a:r>
            <a:r>
              <a:rPr lang="en-US" altLang="en-US" b="1" dirty="0" smtClean="0"/>
              <a:t>Insurance terminologies</a:t>
            </a:r>
          </a:p>
        </p:txBody>
      </p:sp>
      <p:sp>
        <p:nvSpPr>
          <p:cNvPr id="13316" name="Rectangle 4"/>
          <p:cNvSpPr>
            <a:spLocks noGrp="1" noChangeArrowheads="1"/>
          </p:cNvSpPr>
          <p:nvPr>
            <p:ph type="body" idx="1"/>
          </p:nvPr>
        </p:nvSpPr>
        <p:spPr>
          <a:xfrm>
            <a:off x="940157" y="1341438"/>
            <a:ext cx="10612191" cy="4799012"/>
          </a:xfrm>
          <a:noFill/>
        </p:spPr>
        <p:txBody>
          <a:bodyPr vert="horz" lIns="105541" tIns="51845" rIns="105541" bIns="51845" rtlCol="0">
            <a:normAutofit fontScale="85000" lnSpcReduction="20000"/>
          </a:bodyPr>
          <a:lstStyle/>
          <a:p>
            <a:pPr eaLnBrk="1" hangingPunct="1"/>
            <a:r>
              <a:rPr lang="en-US" altLang="en-US" b="1" dirty="0" smtClean="0"/>
              <a:t>Association: </a:t>
            </a:r>
            <a:r>
              <a:rPr lang="en-US" altLang="en-US" dirty="0" smtClean="0"/>
              <a:t>A group. Often, associations can offer individual health insurance plans specially designed for their members.</a:t>
            </a:r>
          </a:p>
          <a:p>
            <a:pPr eaLnBrk="1" hangingPunct="1"/>
            <a:r>
              <a:rPr lang="en-US" altLang="en-US" sz="2900" b="1" dirty="0"/>
              <a:t>Basic Premium</a:t>
            </a:r>
            <a:r>
              <a:rPr lang="en-US" altLang="en-US" sz="2600" dirty="0"/>
              <a:t>: </a:t>
            </a:r>
            <a:r>
              <a:rPr lang="en-US" altLang="en-US" dirty="0" smtClean="0"/>
              <a:t>A percentage of the standard premium that covers the initial administrative expenses the insurance company incurs while designing your policy. </a:t>
            </a:r>
          </a:p>
          <a:p>
            <a:r>
              <a:rPr lang="en-US" altLang="en-US" b="1" dirty="0" smtClean="0"/>
              <a:t>Deductible</a:t>
            </a:r>
            <a:r>
              <a:rPr lang="en-US" altLang="en-US" dirty="0" smtClean="0"/>
              <a:t>: The amount of money you must pay for medical care expenses before your insurance policy starts reimbursing you. This amount must be met each year.</a:t>
            </a:r>
          </a:p>
          <a:p>
            <a:pPr eaLnBrk="1" hangingPunct="1"/>
            <a:r>
              <a:rPr lang="en-US" altLang="en-US" b="1" dirty="0" smtClean="0"/>
              <a:t>Co-Insurance:</a:t>
            </a:r>
            <a:r>
              <a:rPr lang="en-US" altLang="en-US" dirty="0" smtClean="0"/>
              <a:t> Co-insurance refers to money that an individual is required to pay for services, after a deductible has been paid. Co-insurance is often specified by a percentage. For example, the employee pays 20 percent toward the charges for a service and the employer or insurance company pays 80 percent.</a:t>
            </a:r>
          </a:p>
          <a:p>
            <a:pPr eaLnBrk="1" hangingPunct="1"/>
            <a:r>
              <a:rPr lang="en-US" altLang="en-US" b="1" dirty="0" smtClean="0"/>
              <a:t>Co-Payment:</a:t>
            </a:r>
            <a:r>
              <a:rPr lang="en-US" altLang="en-US" dirty="0" smtClean="0"/>
              <a:t> Co-payment is a predetermined (flat) fee that an individual pays for health care services, in addition to what the insurance covers. For example, some HMOs require a $10 "co-payment" for each office visit, regardless of the type or level of services provided during the visit. Co-payments are not usually specified by percentages.</a:t>
            </a:r>
          </a:p>
          <a:p>
            <a:pPr eaLnBrk="1" hangingPunct="1"/>
            <a:endParaRPr lang="en-US" altLang="en-US" dirty="0" smtClean="0"/>
          </a:p>
        </p:txBody>
      </p:sp>
    </p:spTree>
    <p:extLst>
      <p:ext uri="{BB962C8B-B14F-4D97-AF65-F5344CB8AC3E}">
        <p14:creationId xmlns:p14="http://schemas.microsoft.com/office/powerpoint/2010/main" val="31140400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In-Network and Out of Network Providers</a:t>
            </a:r>
            <a:endParaRPr lang="en-US" dirty="0"/>
          </a:p>
        </p:txBody>
      </p:sp>
      <p:sp>
        <p:nvSpPr>
          <p:cNvPr id="3" name="Content Placeholder 2"/>
          <p:cNvSpPr>
            <a:spLocks noGrp="1"/>
          </p:cNvSpPr>
          <p:nvPr>
            <p:ph idx="1"/>
          </p:nvPr>
        </p:nvSpPr>
        <p:spPr/>
        <p:txBody>
          <a:bodyPr/>
          <a:lstStyle/>
          <a:p>
            <a:r>
              <a:rPr lang="en-US" dirty="0"/>
              <a:t>A </a:t>
            </a:r>
            <a:r>
              <a:rPr lang="en-US" b="1" dirty="0"/>
              <a:t>provider network</a:t>
            </a:r>
            <a:r>
              <a:rPr lang="en-US" dirty="0"/>
              <a:t> is a list of the doctors, other health care </a:t>
            </a:r>
            <a:r>
              <a:rPr lang="en-US" b="1" dirty="0"/>
              <a:t>providers</a:t>
            </a:r>
            <a:r>
              <a:rPr lang="en-US" dirty="0"/>
              <a:t>, and hospitals that a plan has contracted with to provide medical care to its members. These </a:t>
            </a:r>
            <a:r>
              <a:rPr lang="en-US" b="1" dirty="0"/>
              <a:t>providers</a:t>
            </a:r>
            <a:r>
              <a:rPr lang="en-US" dirty="0"/>
              <a:t> are called “</a:t>
            </a:r>
            <a:r>
              <a:rPr lang="en-US" b="1" dirty="0"/>
              <a:t>network </a:t>
            </a:r>
            <a:r>
              <a:rPr lang="en-US" b="1" dirty="0" smtClean="0"/>
              <a:t>providers</a:t>
            </a:r>
            <a:r>
              <a:rPr lang="en-US" dirty="0"/>
              <a:t>” or “</a:t>
            </a:r>
            <a:r>
              <a:rPr lang="en-US" b="1" dirty="0"/>
              <a:t>in-network providers</a:t>
            </a:r>
            <a:r>
              <a:rPr lang="en-US" dirty="0" smtClean="0"/>
              <a:t>.”</a:t>
            </a:r>
          </a:p>
          <a:p>
            <a:r>
              <a:rPr lang="en-US" dirty="0"/>
              <a:t>An </a:t>
            </a:r>
            <a:r>
              <a:rPr lang="en-US" b="1" dirty="0"/>
              <a:t>out-of-network provider</a:t>
            </a:r>
            <a:r>
              <a:rPr lang="en-US" dirty="0"/>
              <a:t> is one which has not contracted with your insurance company for reimbursement at a negotiated </a:t>
            </a:r>
            <a:r>
              <a:rPr lang="en-US" dirty="0" smtClean="0"/>
              <a:t>rate, </a:t>
            </a:r>
            <a:r>
              <a:rPr lang="en-US" dirty="0"/>
              <a:t>which means that as the patient, you would be responsible for the full amount charged by your doctor</a:t>
            </a:r>
          </a:p>
        </p:txBody>
      </p:sp>
    </p:spTree>
    <p:extLst>
      <p:ext uri="{BB962C8B-B14F-4D97-AF65-F5344CB8AC3E}">
        <p14:creationId xmlns:p14="http://schemas.microsoft.com/office/powerpoint/2010/main" val="41811095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524000" y="221201"/>
            <a:ext cx="6946447" cy="834867"/>
          </a:xfrm>
        </p:spPr>
        <p:txBody>
          <a:bodyPr>
            <a:normAutofit fontScale="90000"/>
          </a:bodyPr>
          <a:lstStyle/>
          <a:p>
            <a:r>
              <a:rPr lang="en-US" altLang="en-US" dirty="0" smtClean="0"/>
              <a:t>Copay, Coinsurance &amp; Deductible</a:t>
            </a:r>
          </a:p>
        </p:txBody>
      </p:sp>
      <p:sp>
        <p:nvSpPr>
          <p:cNvPr id="13315" name="Content Placeholder 4"/>
          <p:cNvSpPr>
            <a:spLocks noGrp="1"/>
          </p:cNvSpPr>
          <p:nvPr>
            <p:ph idx="1"/>
          </p:nvPr>
        </p:nvSpPr>
        <p:spPr>
          <a:xfrm>
            <a:off x="1524001" y="1894114"/>
            <a:ext cx="3971926" cy="647870"/>
          </a:xfrm>
        </p:spPr>
        <p:txBody>
          <a:bodyPr wrap="square">
            <a:spAutoFit/>
          </a:bodyPr>
          <a:lstStyle/>
          <a:p>
            <a:pPr marL="0" indent="0">
              <a:buNone/>
            </a:pPr>
            <a:endParaRPr lang="en-US" altLang="en-US" sz="1714" dirty="0"/>
          </a:p>
          <a:p>
            <a:pPr marL="0" indent="0">
              <a:buNone/>
            </a:pPr>
            <a:endParaRPr lang="en-US" altLang="en-US" sz="1371" dirty="0"/>
          </a:p>
        </p:txBody>
      </p:sp>
      <p:sp>
        <p:nvSpPr>
          <p:cNvPr id="4" name="TextBox 3"/>
          <p:cNvSpPr txBox="1"/>
          <p:nvPr/>
        </p:nvSpPr>
        <p:spPr>
          <a:xfrm>
            <a:off x="1654629" y="1983921"/>
            <a:ext cx="4771929" cy="408894"/>
          </a:xfrm>
          <a:prstGeom prst="rect">
            <a:avLst/>
          </a:prstGeom>
          <a:solidFill>
            <a:schemeClr val="accent3">
              <a:lumMod val="65000"/>
            </a:schemeClr>
          </a:solidFill>
        </p:spPr>
        <p:txBody>
          <a:bodyPr wrap="square">
            <a:spAutoFit/>
          </a:bodyPr>
          <a:lstStyle>
            <a:defPPr>
              <a:defRPr lang="en-US"/>
            </a:defPPr>
            <a:lvl1pPr algn="ctr">
              <a:defRPr sz="2400">
                <a:ln w="0"/>
                <a:effectLst>
                  <a:outerShdw blurRad="38100" dist="19050" dir="2700000" algn="tl" rotWithShape="0">
                    <a:schemeClr val="dk1">
                      <a:alpha val="40000"/>
                    </a:schemeClr>
                  </a:outerShdw>
                </a:effectLst>
              </a:defRPr>
            </a:lvl1pPr>
          </a:lstStyle>
          <a:p>
            <a:pPr>
              <a:defRPr/>
            </a:pPr>
            <a:r>
              <a:rPr lang="en-US" sz="2057" dirty="0"/>
              <a:t>Sample </a:t>
            </a:r>
            <a:r>
              <a:rPr lang="en-US" sz="2057" dirty="0" smtClean="0"/>
              <a:t>Benefits Summary</a:t>
            </a:r>
            <a:r>
              <a:rPr lang="en-US" sz="2057" dirty="0"/>
              <a:t>	</a:t>
            </a:r>
          </a:p>
        </p:txBody>
      </p:sp>
      <p:graphicFrame>
        <p:nvGraphicFramePr>
          <p:cNvPr id="7" name="Table 6"/>
          <p:cNvGraphicFramePr>
            <a:graphicFrameLocks noGrp="1"/>
          </p:cNvGraphicFramePr>
          <p:nvPr/>
        </p:nvGraphicFramePr>
        <p:xfrm>
          <a:off x="1615169" y="2638425"/>
          <a:ext cx="8399688" cy="4219571"/>
        </p:xfrm>
        <a:graphic>
          <a:graphicData uri="http://schemas.openxmlformats.org/drawingml/2006/table">
            <a:tbl>
              <a:tblPr/>
              <a:tblGrid>
                <a:gridCol w="4339504">
                  <a:extLst>
                    <a:ext uri="{9D8B030D-6E8A-4147-A177-3AD203B41FA5}"/>
                  </a:extLst>
                </a:gridCol>
                <a:gridCol w="2203703">
                  <a:extLst>
                    <a:ext uri="{9D8B030D-6E8A-4147-A177-3AD203B41FA5}"/>
                  </a:extLst>
                </a:gridCol>
                <a:gridCol w="1856481">
                  <a:extLst>
                    <a:ext uri="{9D8B030D-6E8A-4147-A177-3AD203B41FA5}"/>
                  </a:extLst>
                </a:gridCol>
              </a:tblGrid>
              <a:tr h="629201">
                <a:tc>
                  <a:txBody>
                    <a:bodyPr/>
                    <a:lstStyle/>
                    <a:p>
                      <a:pPr marL="0" marR="0" lvl="0" indent="0" algn="ctr"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400" b="1" i="0" u="none" strike="noStrike" cap="none" normalizeH="0" baseline="0" dirty="0">
                          <a:ln>
                            <a:noFill/>
                          </a:ln>
                          <a:solidFill>
                            <a:schemeClr val="bg1"/>
                          </a:solidFill>
                          <a:effectLst/>
                          <a:latin typeface="Calibri" pitchFamily="34" charset="0"/>
                        </a:rPr>
                        <a:t>Benefits (Employee Cost Share)</a:t>
                      </a:r>
                    </a:p>
                  </a:txBody>
                  <a:tcPr marL="78377" marR="78377" marT="39195" marB="391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400" b="1" i="0" u="none" strike="noStrike" cap="none" normalizeH="0" baseline="0">
                          <a:ln>
                            <a:noFill/>
                          </a:ln>
                          <a:solidFill>
                            <a:schemeClr val="bg1"/>
                          </a:solidFill>
                          <a:effectLst/>
                          <a:latin typeface="Calibri" pitchFamily="34" charset="0"/>
                        </a:rPr>
                        <a:t>Network</a:t>
                      </a:r>
                    </a:p>
                  </a:txBody>
                  <a:tcPr marL="78377" marR="78377" marT="39195" marB="391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400" b="1" i="0" u="none" strike="noStrike" cap="none" normalizeH="0" baseline="0" dirty="0">
                          <a:ln>
                            <a:noFill/>
                          </a:ln>
                          <a:solidFill>
                            <a:schemeClr val="bg1"/>
                          </a:solidFill>
                          <a:effectLst/>
                          <a:latin typeface="Calibri" pitchFamily="34" charset="0"/>
                        </a:rPr>
                        <a:t>Non-Network</a:t>
                      </a:r>
                    </a:p>
                  </a:txBody>
                  <a:tcPr marL="78377" marR="78377" marT="39195" marB="391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extLst>
              </a:tr>
              <a:tr h="400023">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1" i="0" u="none" strike="noStrike" cap="none" normalizeH="0" baseline="0" dirty="0">
                          <a:ln>
                            <a:noFill/>
                          </a:ln>
                          <a:solidFill>
                            <a:schemeClr val="tx1"/>
                          </a:solidFill>
                          <a:effectLst/>
                          <a:latin typeface="Calibri" pitchFamily="34" charset="0"/>
                        </a:rPr>
                        <a:t>Individual/Family Deductible</a:t>
                      </a:r>
                    </a:p>
                  </a:txBody>
                  <a:tcPr marL="78377" marR="78377" marT="39195" marB="391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dirty="0">
                          <a:ln>
                            <a:noFill/>
                          </a:ln>
                          <a:solidFill>
                            <a:schemeClr val="tx1"/>
                          </a:solidFill>
                          <a:effectLst/>
                          <a:latin typeface="Calibri" pitchFamily="34" charset="0"/>
                        </a:rPr>
                        <a:t>$1,000 / $2,000</a:t>
                      </a:r>
                    </a:p>
                  </a:txBody>
                  <a:tcPr marL="78377" marR="78377" marT="39195" marB="391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$2,000 / $4,000</a:t>
                      </a:r>
                    </a:p>
                  </a:txBody>
                  <a:tcPr marL="78377" marR="78377" marT="39195" marB="391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854214">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1" i="0" u="none" strike="noStrike" cap="none" normalizeH="0" baseline="0" dirty="0">
                          <a:ln>
                            <a:noFill/>
                          </a:ln>
                          <a:solidFill>
                            <a:schemeClr val="tx1"/>
                          </a:solidFill>
                          <a:effectLst/>
                          <a:latin typeface="Calibri" pitchFamily="34" charset="0"/>
                        </a:rPr>
                        <a:t>Coinsurance</a:t>
                      </a:r>
                    </a:p>
                  </a:txBody>
                  <a:tcPr marL="78377" marR="78377" marT="39195" marB="391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dirty="0">
                          <a:ln>
                            <a:noFill/>
                          </a:ln>
                          <a:solidFill>
                            <a:schemeClr val="tx1"/>
                          </a:solidFill>
                          <a:effectLst/>
                          <a:latin typeface="Calibri" pitchFamily="34" charset="0"/>
                        </a:rPr>
                        <a:t>80% (Carrier)</a:t>
                      </a:r>
                    </a:p>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dirty="0">
                          <a:ln>
                            <a:noFill/>
                          </a:ln>
                          <a:solidFill>
                            <a:schemeClr val="tx1"/>
                          </a:solidFill>
                          <a:effectLst/>
                          <a:latin typeface="Calibri" pitchFamily="34" charset="0"/>
                        </a:rPr>
                        <a:t>20% (Employee)</a:t>
                      </a:r>
                    </a:p>
                  </a:txBody>
                  <a:tcPr marL="78377" marR="78377" marT="39195" marB="391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70% (Carrier)</a:t>
                      </a:r>
                    </a:p>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30% (Employee)</a:t>
                      </a:r>
                    </a:p>
                  </a:txBody>
                  <a:tcPr marL="78377" marR="78377" marT="39195" marB="391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400023">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1" i="0" u="none" strike="noStrike" cap="none" normalizeH="0" baseline="0">
                          <a:ln>
                            <a:noFill/>
                          </a:ln>
                          <a:solidFill>
                            <a:schemeClr val="tx1"/>
                          </a:solidFill>
                          <a:effectLst/>
                          <a:latin typeface="Calibri" pitchFamily="34" charset="0"/>
                        </a:rPr>
                        <a:t>Individual/Family Out of Pocket Maximum</a:t>
                      </a:r>
                    </a:p>
                  </a:txBody>
                  <a:tcPr marL="78377" marR="78377" marT="39195" marB="391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$4,000 / $8,000</a:t>
                      </a:r>
                    </a:p>
                  </a:txBody>
                  <a:tcPr marL="78377" marR="78377" marT="39195" marB="391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$8,000 / $16,000</a:t>
                      </a:r>
                    </a:p>
                  </a:txBody>
                  <a:tcPr marL="78377" marR="78377" marT="39195" marB="391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736041">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1" i="0" u="none" strike="noStrike" cap="none" normalizeH="0" baseline="0">
                          <a:ln>
                            <a:noFill/>
                          </a:ln>
                          <a:solidFill>
                            <a:schemeClr val="tx1"/>
                          </a:solidFill>
                          <a:effectLst/>
                          <a:latin typeface="Calibri" pitchFamily="34" charset="0"/>
                        </a:rPr>
                        <a:t>Physician/Specialist – Office Visit Copay</a:t>
                      </a:r>
                    </a:p>
                  </a:txBody>
                  <a:tcPr marL="78377" marR="78377" marT="39195" marB="391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$ 20 Copay (General)</a:t>
                      </a:r>
                    </a:p>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$ 35 Copay (Specialist)</a:t>
                      </a:r>
                    </a:p>
                  </a:txBody>
                  <a:tcPr marL="78377" marR="78377" marT="39195" marB="391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Deductible then 30%</a:t>
                      </a:r>
                    </a:p>
                  </a:txBody>
                  <a:tcPr marL="78377" marR="78377" marT="39195" marB="391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400023">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1" i="0" u="none" strike="noStrike" cap="none" normalizeH="0" baseline="0">
                          <a:ln>
                            <a:noFill/>
                          </a:ln>
                          <a:solidFill>
                            <a:schemeClr val="tx1"/>
                          </a:solidFill>
                          <a:effectLst/>
                          <a:latin typeface="Calibri" pitchFamily="34" charset="0"/>
                        </a:rPr>
                        <a:t>Urgent Care Copay</a:t>
                      </a:r>
                    </a:p>
                  </a:txBody>
                  <a:tcPr marL="78377" marR="78377" marT="39195" marB="391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$50 Copay</a:t>
                      </a:r>
                    </a:p>
                  </a:txBody>
                  <a:tcPr marL="78377" marR="78377" marT="39195" marB="391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Deductible then 30%</a:t>
                      </a:r>
                    </a:p>
                  </a:txBody>
                  <a:tcPr marL="78377" marR="78377" marT="39195" marB="391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400023">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1" i="0" u="none" strike="noStrike" cap="none" normalizeH="0" baseline="0">
                          <a:ln>
                            <a:noFill/>
                          </a:ln>
                          <a:solidFill>
                            <a:schemeClr val="tx1"/>
                          </a:solidFill>
                          <a:effectLst/>
                          <a:latin typeface="Calibri" pitchFamily="34" charset="0"/>
                        </a:rPr>
                        <a:t>Emergency Room Copay</a:t>
                      </a:r>
                    </a:p>
                  </a:txBody>
                  <a:tcPr marL="78377" marR="78377" marT="39195" marB="391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$150 Copay then 30%</a:t>
                      </a:r>
                    </a:p>
                  </a:txBody>
                  <a:tcPr marL="78377" marR="78377" marT="39195" marB="391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Deductible then 30%</a:t>
                      </a:r>
                    </a:p>
                  </a:txBody>
                  <a:tcPr marL="78377" marR="78377" marT="39195" marB="391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r h="400023">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1" i="0" u="none" strike="noStrike" cap="none" normalizeH="0" baseline="0" dirty="0">
                          <a:ln>
                            <a:noFill/>
                          </a:ln>
                          <a:solidFill>
                            <a:schemeClr val="tx1"/>
                          </a:solidFill>
                          <a:effectLst/>
                          <a:latin typeface="Calibri" pitchFamily="34" charset="0"/>
                        </a:rPr>
                        <a:t>Inpatient Hospital</a:t>
                      </a:r>
                    </a:p>
                  </a:txBody>
                  <a:tcPr marL="78377" marR="78377" marT="39195" marB="391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a:ln>
                            <a:noFill/>
                          </a:ln>
                          <a:solidFill>
                            <a:schemeClr val="tx1"/>
                          </a:solidFill>
                          <a:effectLst/>
                          <a:latin typeface="Calibri" pitchFamily="34" charset="0"/>
                        </a:rPr>
                        <a:t>Deductible then 20%</a:t>
                      </a:r>
                    </a:p>
                  </a:txBody>
                  <a:tcPr marL="78377" marR="78377" marT="39195" marB="391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sz="1200" b="0" i="0" u="none" strike="noStrike" cap="none" normalizeH="0" baseline="0" dirty="0">
                          <a:ln>
                            <a:noFill/>
                          </a:ln>
                          <a:solidFill>
                            <a:schemeClr val="tx1"/>
                          </a:solidFill>
                          <a:effectLst/>
                          <a:latin typeface="Calibri" pitchFamily="34" charset="0"/>
                        </a:rPr>
                        <a:t>Deductible then 30%</a:t>
                      </a:r>
                    </a:p>
                  </a:txBody>
                  <a:tcPr marL="78377" marR="78377" marT="39195" marB="391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Tree>
    <p:extLst>
      <p:ext uri="{BB962C8B-B14F-4D97-AF65-F5344CB8AC3E}">
        <p14:creationId xmlns:p14="http://schemas.microsoft.com/office/powerpoint/2010/main" val="41397768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smtClean="0"/>
              <a:t>Types of Health care Plans</a:t>
            </a:r>
          </a:p>
        </p:txBody>
      </p:sp>
      <p:sp>
        <p:nvSpPr>
          <p:cNvPr id="3" name="Content Placeholder 2"/>
          <p:cNvSpPr>
            <a:spLocks noGrp="1"/>
          </p:cNvSpPr>
          <p:nvPr>
            <p:ph idx="1"/>
          </p:nvPr>
        </p:nvSpPr>
        <p:spPr/>
        <p:txBody>
          <a:bodyPr/>
          <a:lstStyle/>
          <a:p>
            <a:pPr marL="0" indent="0">
              <a:buNone/>
              <a:defRPr/>
            </a:pPr>
            <a:r>
              <a:rPr lang="en-US" sz="1714" b="1" dirty="0"/>
              <a:t>1. Indemnity</a:t>
            </a:r>
            <a:endParaRPr lang="en-US" sz="1714" dirty="0"/>
          </a:p>
          <a:p>
            <a:pPr>
              <a:defRPr/>
            </a:pPr>
            <a:r>
              <a:rPr lang="en-US" sz="1714" dirty="0"/>
              <a:t>This is a comprehensive plan where, the Insurer pays the reimbursement claims by the Member for the medical services he availed.</a:t>
            </a:r>
          </a:p>
          <a:p>
            <a:pPr>
              <a:defRPr/>
            </a:pPr>
            <a:r>
              <a:rPr lang="en-US" sz="1714" dirty="0"/>
              <a:t>Here the Coinsurance, deductibles is high than other managed care plans. </a:t>
            </a:r>
          </a:p>
          <a:p>
            <a:pPr>
              <a:defRPr/>
            </a:pPr>
            <a:r>
              <a:rPr lang="en-US" sz="1714" dirty="0"/>
              <a:t>Preventive care is not covered.</a:t>
            </a:r>
          </a:p>
          <a:p>
            <a:pPr>
              <a:defRPr/>
            </a:pPr>
            <a:r>
              <a:rPr lang="en-US" sz="1714" dirty="0"/>
              <a:t>In some cases, the plan will pay the medical provider directly, but more frequently will reimburse the member for covered services.</a:t>
            </a:r>
          </a:p>
          <a:p>
            <a:pPr marL="0" indent="0">
              <a:buNone/>
              <a:defRPr/>
            </a:pPr>
            <a:r>
              <a:rPr lang="en-US" sz="1714" b="1" dirty="0"/>
              <a:t>Note : </a:t>
            </a:r>
          </a:p>
          <a:p>
            <a:pPr marL="0" indent="0">
              <a:buNone/>
              <a:defRPr/>
            </a:pPr>
            <a:r>
              <a:rPr lang="en-US" sz="1714" dirty="0"/>
              <a:t>Network is a system of contracted providers/facilities.</a:t>
            </a:r>
          </a:p>
          <a:p>
            <a:pPr marL="0" indent="0">
              <a:buNone/>
              <a:defRPr/>
            </a:pPr>
            <a:r>
              <a:rPr lang="en-US" sz="1714" b="1" dirty="0"/>
              <a:t>In Network : </a:t>
            </a:r>
            <a:r>
              <a:rPr lang="en-US" sz="1714" dirty="0"/>
              <a:t>The Group which is having contracts with Insurance Company</a:t>
            </a:r>
          </a:p>
          <a:p>
            <a:pPr marL="0" indent="0">
              <a:buNone/>
              <a:defRPr/>
            </a:pPr>
            <a:r>
              <a:rPr lang="en-US" sz="1714" b="1" dirty="0"/>
              <a:t>Out Of Network: </a:t>
            </a:r>
            <a:r>
              <a:rPr lang="en-US" sz="1714" dirty="0"/>
              <a:t>The Group which is not having contracts with Insurance Company</a:t>
            </a:r>
          </a:p>
          <a:p>
            <a:pPr marL="0" indent="0">
              <a:buNone/>
              <a:defRPr/>
            </a:pPr>
            <a:endParaRPr lang="en-US" dirty="0"/>
          </a:p>
        </p:txBody>
      </p:sp>
    </p:spTree>
    <p:extLst>
      <p:ext uri="{BB962C8B-B14F-4D97-AF65-F5344CB8AC3E}">
        <p14:creationId xmlns:p14="http://schemas.microsoft.com/office/powerpoint/2010/main" val="13088399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smtClean="0"/>
              <a:t>Types of Health care Plans - Contd</a:t>
            </a:r>
          </a:p>
        </p:txBody>
      </p:sp>
      <p:sp>
        <p:nvSpPr>
          <p:cNvPr id="3" name="Content Placeholder 2"/>
          <p:cNvSpPr>
            <a:spLocks noGrp="1"/>
          </p:cNvSpPr>
          <p:nvPr>
            <p:ph idx="1"/>
          </p:nvPr>
        </p:nvSpPr>
        <p:spPr/>
        <p:txBody>
          <a:bodyPr/>
          <a:lstStyle/>
          <a:p>
            <a:pPr marL="0" indent="0">
              <a:buNone/>
              <a:defRPr/>
            </a:pPr>
            <a:r>
              <a:rPr lang="en-US" sz="1714" b="1" dirty="0"/>
              <a:t>2. Managed Care</a:t>
            </a:r>
          </a:p>
          <a:p>
            <a:pPr>
              <a:defRPr/>
            </a:pPr>
            <a:r>
              <a:rPr lang="en-US" sz="1714" dirty="0"/>
              <a:t>The term managed care or managed health care is used describe a variety of techniques intended to reduce the cost of providing health benefits and improve the quality of care ("managed care plans"), for organizations that use those techniques or provide them as services to other organizations ("managed care organization" or "MCO"), or to describe systems of financing and delivering health care to enrollees organized around managed care techniques and concepts ("managed care delivery systems or networks"). </a:t>
            </a:r>
          </a:p>
          <a:p>
            <a:pPr>
              <a:defRPr/>
            </a:pPr>
            <a:r>
              <a:rPr lang="en-US" sz="1714" dirty="0"/>
              <a:t>Economic factors such as increase of healthcare cost were one of the major reasons for the rise of managed care. Typical managed care plans are </a:t>
            </a:r>
            <a:r>
              <a:rPr lang="en-US" sz="1714" b="1" dirty="0"/>
              <a:t>HMO, PPO, POS and EPO. </a:t>
            </a:r>
          </a:p>
          <a:p>
            <a:pPr>
              <a:defRPr/>
            </a:pPr>
            <a:endParaRPr lang="en-US" dirty="0"/>
          </a:p>
          <a:p>
            <a:pPr>
              <a:defRPr/>
            </a:pPr>
            <a:endParaRPr lang="en-US" dirty="0"/>
          </a:p>
        </p:txBody>
      </p:sp>
    </p:spTree>
    <p:extLst>
      <p:ext uri="{BB962C8B-B14F-4D97-AF65-F5344CB8AC3E}">
        <p14:creationId xmlns:p14="http://schemas.microsoft.com/office/powerpoint/2010/main" val="4045154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smtClean="0"/>
              <a:t>Types of Health care Plans - Contd</a:t>
            </a:r>
          </a:p>
        </p:txBody>
      </p:sp>
      <p:sp>
        <p:nvSpPr>
          <p:cNvPr id="3" name="Content Placeholder 2"/>
          <p:cNvSpPr>
            <a:spLocks noGrp="1"/>
          </p:cNvSpPr>
          <p:nvPr>
            <p:ph idx="1"/>
          </p:nvPr>
        </p:nvSpPr>
        <p:spPr/>
        <p:txBody>
          <a:bodyPr/>
          <a:lstStyle/>
          <a:p>
            <a:pPr marL="0" indent="0">
              <a:buNone/>
              <a:defRPr/>
            </a:pPr>
            <a:r>
              <a:rPr lang="en-US" sz="1714" b="1" dirty="0"/>
              <a:t>HMO(Health Maintenance Organization)</a:t>
            </a:r>
          </a:p>
          <a:p>
            <a:pPr>
              <a:defRPr/>
            </a:pPr>
            <a:r>
              <a:rPr lang="en-US" sz="1714" b="1" dirty="0"/>
              <a:t> </a:t>
            </a:r>
            <a:r>
              <a:rPr lang="en-US" sz="1714" dirty="0"/>
              <a:t>A type of Managed Care plan that provides a health insurance coverage in the United States that is </a:t>
            </a:r>
            <a:r>
              <a:rPr lang="en-US" sz="1714" b="1" dirty="0"/>
              <a:t>fulfilled through a network of hospitals, doctors, and other providers with which the HMO contracts. </a:t>
            </a:r>
          </a:p>
          <a:p>
            <a:pPr>
              <a:defRPr/>
            </a:pPr>
            <a:r>
              <a:rPr lang="en-US" sz="1714" dirty="0"/>
              <a:t>The member is assigned a </a:t>
            </a:r>
            <a:r>
              <a:rPr lang="en-US" sz="1714" b="1" dirty="0"/>
              <a:t>PCP</a:t>
            </a:r>
            <a:r>
              <a:rPr lang="en-US" sz="1714" dirty="0"/>
              <a:t> (Primary care physician) and he is responsible for the overall care of the member under him. </a:t>
            </a:r>
          </a:p>
          <a:p>
            <a:pPr>
              <a:defRPr/>
            </a:pPr>
            <a:r>
              <a:rPr lang="en-US" sz="1714" dirty="0"/>
              <a:t>For Specialist services, member must obtain authorization/referral before seeing a specialist or receiving specialty services from PCP. </a:t>
            </a:r>
          </a:p>
          <a:p>
            <a:pPr>
              <a:defRPr/>
            </a:pPr>
            <a:r>
              <a:rPr lang="en-US" sz="1714" dirty="0"/>
              <a:t>There is no coverage for services performed by a provider outside the defined network, unless it is an emergency situation as defined by the HMO. </a:t>
            </a:r>
          </a:p>
          <a:p>
            <a:pPr>
              <a:defRPr/>
            </a:pPr>
            <a:r>
              <a:rPr lang="en-US" sz="1714" dirty="0"/>
              <a:t>HMO also has a cost sharing mechanism by the member in the form of co-pay.</a:t>
            </a:r>
          </a:p>
          <a:p>
            <a:pPr>
              <a:defRPr/>
            </a:pPr>
            <a:endParaRPr lang="en-US" dirty="0"/>
          </a:p>
        </p:txBody>
      </p:sp>
    </p:spTree>
    <p:extLst>
      <p:ext uri="{BB962C8B-B14F-4D97-AF65-F5344CB8AC3E}">
        <p14:creationId xmlns:p14="http://schemas.microsoft.com/office/powerpoint/2010/main" val="17141404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smtClean="0"/>
              <a:t>Types of Health care Plans - Contd</a:t>
            </a:r>
          </a:p>
        </p:txBody>
      </p:sp>
      <p:sp>
        <p:nvSpPr>
          <p:cNvPr id="3" name="Content Placeholder 2"/>
          <p:cNvSpPr>
            <a:spLocks noGrp="1"/>
          </p:cNvSpPr>
          <p:nvPr>
            <p:ph idx="1"/>
          </p:nvPr>
        </p:nvSpPr>
        <p:spPr/>
        <p:txBody>
          <a:bodyPr/>
          <a:lstStyle/>
          <a:p>
            <a:pPr marL="0" indent="0">
              <a:buNone/>
              <a:defRPr/>
            </a:pPr>
            <a:r>
              <a:rPr lang="en-US" sz="1714" b="1" dirty="0"/>
              <a:t>PPO (Preferred Provider Organization)</a:t>
            </a:r>
            <a:r>
              <a:rPr lang="en-US" sz="1714" dirty="0"/>
              <a:t> </a:t>
            </a:r>
          </a:p>
          <a:p>
            <a:pPr>
              <a:defRPr/>
            </a:pPr>
            <a:r>
              <a:rPr lang="en-US" sz="1714" dirty="0"/>
              <a:t>A preferred network of providers with whom the health insurer contracts, much like an HMO, at pre-determined rates. The member is free to choose his/her own physician, and in most cases does not need to have a Primary Care Physician or referrals for specialty care. </a:t>
            </a:r>
          </a:p>
          <a:p>
            <a:pPr>
              <a:defRPr/>
            </a:pPr>
            <a:r>
              <a:rPr lang="en-US" sz="1714" b="1" dirty="0"/>
              <a:t>In PPO, members do have coverage for out of network services</a:t>
            </a:r>
            <a:r>
              <a:rPr lang="en-US" sz="1714" dirty="0"/>
              <a:t>, although at a lower benefit (possibly including higher deductibles, higher co-payments, and lower reimbursement percentages). </a:t>
            </a:r>
          </a:p>
          <a:p>
            <a:pPr>
              <a:defRPr/>
            </a:pPr>
            <a:r>
              <a:rPr lang="en-US" sz="1714" dirty="0"/>
              <a:t>PPO’s may have additional cost sharing mechanisms with members that are not often found in HMOs such as:</a:t>
            </a:r>
          </a:p>
          <a:p>
            <a:pPr lvl="1">
              <a:defRPr/>
            </a:pPr>
            <a:r>
              <a:rPr lang="en-US" sz="1714" b="1" dirty="0"/>
              <a:t>a) Co-insurance:</a:t>
            </a:r>
            <a:r>
              <a:rPr lang="en-US" sz="1714" dirty="0"/>
              <a:t> The member pays a pre-determined % of the charge for designated services after a deductible has been paid.</a:t>
            </a:r>
          </a:p>
          <a:p>
            <a:pPr lvl="1">
              <a:defRPr/>
            </a:pPr>
            <a:r>
              <a:rPr lang="en-US" sz="1714" b="1" dirty="0"/>
              <a:t>b)</a:t>
            </a:r>
            <a:r>
              <a:rPr lang="en-US" sz="1714" dirty="0"/>
              <a:t> </a:t>
            </a:r>
            <a:r>
              <a:rPr lang="en-US" sz="1714" b="1" dirty="0"/>
              <a:t>Deductibles:</a:t>
            </a:r>
            <a:r>
              <a:rPr lang="en-US" sz="1714" dirty="0"/>
              <a:t> The amount of money you must pay for medical care expenses before your insurance policy starts reimbursing you. This amount must be met each year.</a:t>
            </a:r>
          </a:p>
          <a:p>
            <a:pPr lvl="1">
              <a:defRPr/>
            </a:pPr>
            <a:r>
              <a:rPr lang="en-US" sz="1714" b="1" dirty="0"/>
              <a:t>c)</a:t>
            </a:r>
            <a:r>
              <a:rPr lang="en-US" sz="1714" dirty="0"/>
              <a:t> </a:t>
            </a:r>
            <a:r>
              <a:rPr lang="en-US" sz="1714" b="1" dirty="0"/>
              <a:t>Co-payments: </a:t>
            </a:r>
            <a:r>
              <a:rPr lang="en-US" sz="1714" dirty="0"/>
              <a:t>This is similar to HMO. A fixed charge associated with a service, e.g., $10 per office visit.</a:t>
            </a:r>
          </a:p>
          <a:p>
            <a:pPr>
              <a:defRPr/>
            </a:pPr>
            <a:endParaRPr lang="en-US" dirty="0"/>
          </a:p>
        </p:txBody>
      </p:sp>
    </p:spTree>
    <p:extLst>
      <p:ext uri="{BB962C8B-B14F-4D97-AF65-F5344CB8AC3E}">
        <p14:creationId xmlns:p14="http://schemas.microsoft.com/office/powerpoint/2010/main" val="15800481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mtClean="0"/>
              <a:t>Types of Health care Plans - Contd</a:t>
            </a:r>
          </a:p>
        </p:txBody>
      </p:sp>
      <p:sp>
        <p:nvSpPr>
          <p:cNvPr id="3" name="Content Placeholder 2"/>
          <p:cNvSpPr>
            <a:spLocks noGrp="1"/>
          </p:cNvSpPr>
          <p:nvPr>
            <p:ph idx="1"/>
          </p:nvPr>
        </p:nvSpPr>
        <p:spPr/>
        <p:txBody>
          <a:bodyPr/>
          <a:lstStyle/>
          <a:p>
            <a:pPr marL="0" indent="0">
              <a:buNone/>
              <a:defRPr/>
            </a:pPr>
            <a:r>
              <a:rPr lang="en-US" sz="1714" b="1" dirty="0"/>
              <a:t>POS (Point of Service)</a:t>
            </a:r>
          </a:p>
          <a:p>
            <a:pPr>
              <a:defRPr/>
            </a:pPr>
            <a:r>
              <a:rPr lang="en-US" sz="1714" dirty="0"/>
              <a:t>POS plans are very similar to </a:t>
            </a:r>
            <a:r>
              <a:rPr lang="en-US" sz="1714" b="1" dirty="0"/>
              <a:t>PPO’s in that they offer out of network coverage</a:t>
            </a:r>
            <a:r>
              <a:rPr lang="en-US" sz="1714" dirty="0"/>
              <a:t>. It combines characteristics of the health maintenance organization (HMO) and the preferred provider organization (PPO).</a:t>
            </a:r>
          </a:p>
          <a:p>
            <a:pPr>
              <a:defRPr/>
            </a:pPr>
            <a:r>
              <a:rPr lang="en-US" sz="1714" dirty="0"/>
              <a:t>The POS is based on a managed care foundation---lower medical costs in exchange for more limited choice. But POS health insurance does differ from other managed care plans.</a:t>
            </a:r>
          </a:p>
          <a:p>
            <a:pPr>
              <a:defRPr/>
            </a:pPr>
            <a:r>
              <a:rPr lang="en-US" sz="1714" b="1" dirty="0"/>
              <a:t>Enrollees in a POS plan are required to choose a primary care physician from within the health care network; this PCP becomes their "point of service</a:t>
            </a:r>
            <a:r>
              <a:rPr lang="en-US" sz="1714" dirty="0"/>
              <a:t>". </a:t>
            </a:r>
          </a:p>
          <a:p>
            <a:pPr>
              <a:defRPr/>
            </a:pPr>
            <a:r>
              <a:rPr lang="en-US" sz="1714" dirty="0"/>
              <a:t>All medical care is directed by the PCP, so the insured is the main “point of service.” This doctor will normally refer patients to other in-network physicians if they need to see a specialist.</a:t>
            </a:r>
          </a:p>
          <a:p>
            <a:pPr>
              <a:defRPr/>
            </a:pPr>
            <a:r>
              <a:rPr lang="en-US" sz="1714" dirty="0"/>
              <a:t>The PCP may make referrals outside the network, but with lesser compensation offered by the patient's health insurance company. </a:t>
            </a:r>
            <a:endParaRPr lang="en-US" dirty="0"/>
          </a:p>
        </p:txBody>
      </p:sp>
    </p:spTree>
    <p:extLst>
      <p:ext uri="{BB962C8B-B14F-4D97-AF65-F5344CB8AC3E}">
        <p14:creationId xmlns:p14="http://schemas.microsoft.com/office/powerpoint/2010/main" val="29849143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smtClean="0"/>
              <a:t>Types of Health care Plans - Contd</a:t>
            </a:r>
          </a:p>
        </p:txBody>
      </p:sp>
      <p:sp>
        <p:nvSpPr>
          <p:cNvPr id="3" name="Content Placeholder 2"/>
          <p:cNvSpPr>
            <a:spLocks noGrp="1"/>
          </p:cNvSpPr>
          <p:nvPr>
            <p:ph idx="1"/>
          </p:nvPr>
        </p:nvSpPr>
        <p:spPr/>
        <p:txBody>
          <a:bodyPr/>
          <a:lstStyle/>
          <a:p>
            <a:pPr marL="0" indent="0">
              <a:buNone/>
              <a:defRPr/>
            </a:pPr>
            <a:r>
              <a:rPr lang="en-US" sz="1714" b="1" dirty="0"/>
              <a:t>EPO (Exclusive Provider Organization)</a:t>
            </a:r>
          </a:p>
          <a:p>
            <a:pPr>
              <a:defRPr/>
            </a:pPr>
            <a:r>
              <a:rPr lang="en-US" sz="1714" dirty="0"/>
              <a:t>An EPO network provides managed care at relatively low cost to plan members. </a:t>
            </a:r>
          </a:p>
          <a:p>
            <a:pPr>
              <a:defRPr/>
            </a:pPr>
            <a:r>
              <a:rPr lang="en-US" sz="1714" dirty="0"/>
              <a:t>EPOs are essentially HMOs with a twist—EPOs have no PCP gatekeepers. They do, however, require patients to stay inside a set provider network..</a:t>
            </a:r>
          </a:p>
          <a:p>
            <a:pPr>
              <a:defRPr/>
            </a:pPr>
            <a:r>
              <a:rPr lang="en-US" sz="1714" dirty="0"/>
              <a:t>EPOs are very restrictive in that you must remain within the network to get care. Even in the case of an emergency, some EPOs may make you pay some or all of the expenses out-of-pocket if you go out-of-network. There are also copayments with EPOs, but, like HMOs, they are usually quite small.</a:t>
            </a:r>
          </a:p>
          <a:p>
            <a:pPr>
              <a:defRPr/>
            </a:pPr>
            <a:r>
              <a:rPr lang="en-US" sz="1714" dirty="0"/>
              <a:t>EPOs are great for individuals who want </a:t>
            </a:r>
            <a:r>
              <a:rPr lang="en-US" sz="1714" b="1" dirty="0"/>
              <a:t>a </a:t>
            </a:r>
            <a:r>
              <a:rPr lang="en-US" sz="1714" b="1" i="1" dirty="0"/>
              <a:t>lower premium</a:t>
            </a:r>
            <a:r>
              <a:rPr lang="en-US" sz="1714" b="1" dirty="0"/>
              <a:t> and who </a:t>
            </a:r>
            <a:r>
              <a:rPr lang="en-US" sz="1714" b="1" i="1" dirty="0"/>
              <a:t>hate waiting for referrals to see specialists</a:t>
            </a:r>
            <a:r>
              <a:rPr lang="en-US" sz="1714" dirty="0"/>
              <a:t>. EPOs are suited to those who are in good health and have few medical needs. EPOs tend to emphasize preventative care.</a:t>
            </a:r>
          </a:p>
          <a:p>
            <a:pPr>
              <a:defRPr/>
            </a:pPr>
            <a:r>
              <a:rPr lang="en-US" sz="1714" dirty="0"/>
              <a:t>Members seeking medical care outside the network, they must pay the doctor's full rate on the spot. This enables the EPOs to negotiate lower premiums and co-payments with doctors in the network because policyholders are virtually guaranteed to visit network providers exclusively. </a:t>
            </a:r>
          </a:p>
        </p:txBody>
      </p:sp>
    </p:spTree>
    <p:extLst>
      <p:ext uri="{BB962C8B-B14F-4D97-AF65-F5344CB8AC3E}">
        <p14:creationId xmlns:p14="http://schemas.microsoft.com/office/powerpoint/2010/main" val="35596659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2166257" y="0"/>
            <a:ext cx="6304190" cy="1756683"/>
          </a:xfrm>
        </p:spPr>
        <p:txBody>
          <a:bodyPr/>
          <a:lstStyle/>
          <a:p>
            <a:r>
              <a:rPr lang="en-US" altLang="en-US" sz="2743"/>
              <a:t>Types of Health care Plans – Contd</a:t>
            </a:r>
            <a:br>
              <a:rPr lang="en-US" altLang="en-US" sz="2743"/>
            </a:br>
            <a:r>
              <a:rPr lang="en-US" altLang="en-US" sz="2743"/>
              <a:t>Comparison chart of Managed care plans</a:t>
            </a:r>
          </a:p>
        </p:txBody>
      </p:sp>
      <p:graphicFrame>
        <p:nvGraphicFramePr>
          <p:cNvPr id="4" name="Content Placeholder 3"/>
          <p:cNvGraphicFramePr>
            <a:graphicFrameLocks noGrp="1"/>
          </p:cNvGraphicFramePr>
          <p:nvPr>
            <p:ph idx="1"/>
          </p:nvPr>
        </p:nvGraphicFramePr>
        <p:xfrm>
          <a:off x="2242458" y="2122715"/>
          <a:ext cx="7511140" cy="4246791"/>
        </p:xfrm>
        <a:graphic>
          <a:graphicData uri="http://schemas.openxmlformats.org/drawingml/2006/table">
            <a:tbl>
              <a:tblPr firstRow="1" firstCol="1" bandRow="1">
                <a:tableStyleId>{5C22544A-7EE6-4342-B048-85BDC9FD1C3A}</a:tableStyleId>
              </a:tblPr>
              <a:tblGrid>
                <a:gridCol w="1073020">
                  <a:extLst>
                    <a:ext uri="{9D8B030D-6E8A-4147-A177-3AD203B41FA5}"/>
                  </a:extLst>
                </a:gridCol>
                <a:gridCol w="1082351">
                  <a:extLst>
                    <a:ext uri="{9D8B030D-6E8A-4147-A177-3AD203B41FA5}"/>
                  </a:extLst>
                </a:gridCol>
                <a:gridCol w="1063689">
                  <a:extLst>
                    <a:ext uri="{9D8B030D-6E8A-4147-A177-3AD203B41FA5}"/>
                  </a:extLst>
                </a:gridCol>
                <a:gridCol w="1073020">
                  <a:extLst>
                    <a:ext uri="{9D8B030D-6E8A-4147-A177-3AD203B41FA5}"/>
                  </a:extLst>
                </a:gridCol>
                <a:gridCol w="1073020">
                  <a:extLst>
                    <a:ext uri="{9D8B030D-6E8A-4147-A177-3AD203B41FA5}"/>
                  </a:extLst>
                </a:gridCol>
                <a:gridCol w="1073020">
                  <a:extLst>
                    <a:ext uri="{9D8B030D-6E8A-4147-A177-3AD203B41FA5}"/>
                  </a:extLst>
                </a:gridCol>
                <a:gridCol w="1073020">
                  <a:extLst>
                    <a:ext uri="{9D8B030D-6E8A-4147-A177-3AD203B41FA5}"/>
                  </a:extLst>
                </a:gridCol>
              </a:tblGrid>
              <a:tr h="726168">
                <a:tc>
                  <a:txBody>
                    <a:bodyPr/>
                    <a:lstStyle/>
                    <a:p>
                      <a:pPr algn="ctr">
                        <a:lnSpc>
                          <a:spcPct val="115000"/>
                        </a:lnSpc>
                      </a:pPr>
                      <a:r>
                        <a:rPr lang="en-US" sz="1200" b="1" kern="1200" dirty="0">
                          <a:solidFill>
                            <a:schemeClr val="lt1"/>
                          </a:solidFill>
                          <a:effectLst/>
                          <a:latin typeface="+mn-lt"/>
                          <a:ea typeface="+mn-ea"/>
                          <a:cs typeface="+mn-cs"/>
                        </a:rPr>
                        <a:t>Health Plans</a:t>
                      </a:r>
                    </a:p>
                  </a:txBody>
                  <a:tcPr marL="8164" marR="8164" marT="8164" marB="8164" anchor="ctr"/>
                </a:tc>
                <a:tc>
                  <a:txBody>
                    <a:bodyPr/>
                    <a:lstStyle/>
                    <a:p>
                      <a:pPr marL="0" marR="0" algn="ctr">
                        <a:lnSpc>
                          <a:spcPct val="115000"/>
                        </a:lnSpc>
                        <a:spcBef>
                          <a:spcPts val="0"/>
                        </a:spcBef>
                        <a:spcAft>
                          <a:spcPts val="0"/>
                        </a:spcAft>
                      </a:pPr>
                      <a:r>
                        <a:rPr lang="en-US" sz="1200" dirty="0">
                          <a:effectLst/>
                        </a:rPr>
                        <a:t>Requires PCP</a:t>
                      </a:r>
                      <a:endParaRPr lang="en-US" sz="1200" dirty="0">
                        <a:effectLst/>
                        <a:latin typeface="Calibri"/>
                        <a:ea typeface="Calibri"/>
                        <a:cs typeface="Times New Roman"/>
                      </a:endParaRPr>
                    </a:p>
                  </a:txBody>
                  <a:tcPr marL="8164" marR="8164" marT="8164" marB="8164" anchor="ctr"/>
                </a:tc>
                <a:tc>
                  <a:txBody>
                    <a:bodyPr/>
                    <a:lstStyle/>
                    <a:p>
                      <a:pPr marL="0" marR="0" algn="ctr">
                        <a:lnSpc>
                          <a:spcPct val="115000"/>
                        </a:lnSpc>
                        <a:spcBef>
                          <a:spcPts val="0"/>
                        </a:spcBef>
                        <a:spcAft>
                          <a:spcPts val="1000"/>
                        </a:spcAft>
                      </a:pPr>
                      <a:r>
                        <a:rPr lang="en-US" sz="1200" dirty="0">
                          <a:effectLst/>
                        </a:rPr>
                        <a:t>Requires referrals</a:t>
                      </a:r>
                      <a:endParaRPr lang="en-US" sz="1200" dirty="0">
                        <a:effectLst/>
                        <a:latin typeface="Calibri"/>
                        <a:ea typeface="Calibri"/>
                        <a:cs typeface="Times New Roman"/>
                      </a:endParaRPr>
                    </a:p>
                  </a:txBody>
                  <a:tcPr marL="8164" marR="8164" marT="8164" marB="8164" anchor="ctr"/>
                </a:tc>
                <a:tc>
                  <a:txBody>
                    <a:bodyPr/>
                    <a:lstStyle/>
                    <a:p>
                      <a:pPr marL="0" marR="0" algn="ctr">
                        <a:lnSpc>
                          <a:spcPct val="115000"/>
                        </a:lnSpc>
                        <a:spcBef>
                          <a:spcPts val="0"/>
                        </a:spcBef>
                        <a:spcAft>
                          <a:spcPts val="0"/>
                        </a:spcAft>
                      </a:pPr>
                      <a:r>
                        <a:rPr lang="en-US" sz="1200" dirty="0">
                          <a:effectLst/>
                        </a:rPr>
                        <a:t>Requires pre-authorization</a:t>
                      </a:r>
                      <a:endParaRPr lang="en-US" sz="1200" dirty="0">
                        <a:effectLst/>
                        <a:latin typeface="Calibri"/>
                        <a:ea typeface="Calibri"/>
                        <a:cs typeface="Times New Roman"/>
                      </a:endParaRPr>
                    </a:p>
                  </a:txBody>
                  <a:tcPr marL="8164" marR="8164" marT="8164" marB="8164" anchor="ctr"/>
                </a:tc>
                <a:tc>
                  <a:txBody>
                    <a:bodyPr/>
                    <a:lstStyle/>
                    <a:p>
                      <a:pPr marL="0" marR="0" algn="ctr">
                        <a:lnSpc>
                          <a:spcPct val="115000"/>
                        </a:lnSpc>
                        <a:spcBef>
                          <a:spcPts val="0"/>
                        </a:spcBef>
                        <a:spcAft>
                          <a:spcPts val="0"/>
                        </a:spcAft>
                      </a:pPr>
                      <a:r>
                        <a:rPr lang="en-US" sz="1200" dirty="0">
                          <a:effectLst/>
                        </a:rPr>
                        <a:t>Pays for out-of-network care</a:t>
                      </a:r>
                      <a:endParaRPr lang="en-US" sz="1200" dirty="0">
                        <a:effectLst/>
                        <a:latin typeface="Calibri"/>
                        <a:ea typeface="Calibri"/>
                        <a:cs typeface="Times New Roman"/>
                      </a:endParaRPr>
                    </a:p>
                  </a:txBody>
                  <a:tcPr marL="8164" marR="8164" marT="8164" marB="8164" anchor="ctr"/>
                </a:tc>
                <a:tc>
                  <a:txBody>
                    <a:bodyPr/>
                    <a:lstStyle/>
                    <a:p>
                      <a:pPr marL="0" marR="0" algn="ctr">
                        <a:lnSpc>
                          <a:spcPct val="115000"/>
                        </a:lnSpc>
                        <a:spcBef>
                          <a:spcPts val="0"/>
                        </a:spcBef>
                        <a:spcAft>
                          <a:spcPts val="0"/>
                        </a:spcAft>
                      </a:pPr>
                      <a:r>
                        <a:rPr lang="en-US" sz="1200" dirty="0">
                          <a:effectLst/>
                        </a:rPr>
                        <a:t>Cost-sharing</a:t>
                      </a:r>
                      <a:endParaRPr lang="en-US" sz="1200" dirty="0">
                        <a:effectLst/>
                        <a:latin typeface="Calibri"/>
                        <a:ea typeface="Calibri"/>
                        <a:cs typeface="Times New Roman"/>
                      </a:endParaRPr>
                    </a:p>
                  </a:txBody>
                  <a:tcPr marL="8164" marR="8164" marT="8164" marB="8164" anchor="ctr"/>
                </a:tc>
                <a:tc>
                  <a:txBody>
                    <a:bodyPr/>
                    <a:lstStyle/>
                    <a:p>
                      <a:pPr marL="0" marR="0" algn="ctr">
                        <a:lnSpc>
                          <a:spcPct val="115000"/>
                        </a:lnSpc>
                        <a:spcBef>
                          <a:spcPts val="0"/>
                        </a:spcBef>
                        <a:spcAft>
                          <a:spcPts val="0"/>
                        </a:spcAft>
                      </a:pPr>
                      <a:r>
                        <a:rPr lang="en-US" sz="1200" dirty="0">
                          <a:effectLst/>
                        </a:rPr>
                        <a:t>Do you have to file claim paperwork?</a:t>
                      </a:r>
                      <a:endParaRPr lang="en-US" sz="1200" dirty="0">
                        <a:effectLst/>
                        <a:latin typeface="Calibri"/>
                        <a:ea typeface="Calibri"/>
                        <a:cs typeface="Times New Roman"/>
                      </a:endParaRPr>
                    </a:p>
                  </a:txBody>
                  <a:tcPr marL="8164" marR="8164" marT="8164" marB="8164" anchor="ctr"/>
                </a:tc>
                <a:extLst>
                  <a:ext uri="{0D108BD9-81ED-4DB2-BD59-A6C34878D82A}"/>
                </a:extLst>
              </a:tr>
              <a:tr h="857577">
                <a:tc>
                  <a:txBody>
                    <a:bodyPr/>
                    <a:lstStyle/>
                    <a:p>
                      <a:pPr marL="0" marR="0" algn="ctr">
                        <a:lnSpc>
                          <a:spcPct val="115000"/>
                        </a:lnSpc>
                        <a:spcBef>
                          <a:spcPts val="0"/>
                        </a:spcBef>
                        <a:spcAft>
                          <a:spcPts val="0"/>
                        </a:spcAft>
                      </a:pPr>
                      <a:r>
                        <a:rPr lang="en-US" sz="1200" dirty="0">
                          <a:effectLst/>
                        </a:rPr>
                        <a:t>HMO</a:t>
                      </a:r>
                      <a:endParaRPr lang="en-US" sz="1200" dirty="0">
                        <a:effectLst/>
                        <a:latin typeface="Calibri"/>
                        <a:ea typeface="Calibri"/>
                        <a:cs typeface="Times New Roman"/>
                      </a:endParaRPr>
                    </a:p>
                  </a:txBody>
                  <a:tcPr marL="8164" marR="8164" marT="8164" marB="8164" anchor="ctr"/>
                </a:tc>
                <a:tc>
                  <a:txBody>
                    <a:bodyPr/>
                    <a:lstStyle/>
                    <a:p>
                      <a:pPr marL="0" marR="0" algn="ctr">
                        <a:lnSpc>
                          <a:spcPct val="115000"/>
                        </a:lnSpc>
                        <a:spcBef>
                          <a:spcPts val="0"/>
                        </a:spcBef>
                        <a:spcAft>
                          <a:spcPts val="0"/>
                        </a:spcAft>
                      </a:pPr>
                      <a:r>
                        <a:rPr lang="en-US" sz="1200" dirty="0">
                          <a:effectLst/>
                        </a:rPr>
                        <a:t>Yes</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Yes</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Not usually required. If required, PCP does it.</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No</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Low</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No</a:t>
                      </a:r>
                      <a:endParaRPr lang="en-US" sz="1200" dirty="0">
                        <a:effectLst/>
                        <a:latin typeface="Calibri"/>
                        <a:ea typeface="Calibri"/>
                        <a:cs typeface="Times New Roman"/>
                      </a:endParaRPr>
                    </a:p>
                  </a:txBody>
                  <a:tcPr marL="8164" marR="8164" marT="8164" marB="8164"/>
                </a:tc>
                <a:extLst>
                  <a:ext uri="{0D108BD9-81ED-4DB2-BD59-A6C34878D82A}"/>
                </a:extLst>
              </a:tr>
              <a:tr h="1432433">
                <a:tc>
                  <a:txBody>
                    <a:bodyPr/>
                    <a:lstStyle/>
                    <a:p>
                      <a:pPr marL="0" marR="0" algn="ctr">
                        <a:lnSpc>
                          <a:spcPct val="115000"/>
                        </a:lnSpc>
                        <a:spcBef>
                          <a:spcPts val="0"/>
                        </a:spcBef>
                        <a:spcAft>
                          <a:spcPts val="0"/>
                        </a:spcAft>
                      </a:pPr>
                      <a:r>
                        <a:rPr lang="en-US" sz="1200" dirty="0">
                          <a:effectLst/>
                        </a:rPr>
                        <a:t>POS</a:t>
                      </a:r>
                      <a:endParaRPr lang="en-US" sz="1200" dirty="0">
                        <a:effectLst/>
                        <a:latin typeface="Calibri"/>
                        <a:ea typeface="Calibri"/>
                        <a:cs typeface="Times New Roman"/>
                      </a:endParaRPr>
                    </a:p>
                  </a:txBody>
                  <a:tcPr marL="8164" marR="8164" marT="8164" marB="8164" anchor="ctr"/>
                </a:tc>
                <a:tc>
                  <a:txBody>
                    <a:bodyPr/>
                    <a:lstStyle/>
                    <a:p>
                      <a:pPr marL="0" marR="0" algn="ctr">
                        <a:lnSpc>
                          <a:spcPct val="115000"/>
                        </a:lnSpc>
                        <a:spcBef>
                          <a:spcPts val="0"/>
                        </a:spcBef>
                        <a:spcAft>
                          <a:spcPts val="0"/>
                        </a:spcAft>
                      </a:pPr>
                      <a:r>
                        <a:rPr lang="en-US" sz="1200" dirty="0">
                          <a:effectLst/>
                        </a:rPr>
                        <a:t>Yes</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Yes</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Not usually. If required, PCP likely does it. Out-of-network care may have different rules.</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Yes, but requires PCP referral.</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Low in-network, high for out-of-network.</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Only for out-of-network claims.</a:t>
                      </a:r>
                      <a:endParaRPr lang="en-US" sz="1200" dirty="0">
                        <a:effectLst/>
                        <a:latin typeface="Calibri"/>
                        <a:ea typeface="Calibri"/>
                        <a:cs typeface="Times New Roman"/>
                      </a:endParaRPr>
                    </a:p>
                  </a:txBody>
                  <a:tcPr marL="8164" marR="8164" marT="8164" marB="8164"/>
                </a:tc>
                <a:extLst>
                  <a:ext uri="{0D108BD9-81ED-4DB2-BD59-A6C34878D82A}"/>
                </a:extLst>
              </a:tr>
              <a:tr h="373036">
                <a:tc>
                  <a:txBody>
                    <a:bodyPr/>
                    <a:lstStyle/>
                    <a:p>
                      <a:pPr marL="0" marR="0" algn="ctr">
                        <a:lnSpc>
                          <a:spcPct val="115000"/>
                        </a:lnSpc>
                        <a:spcBef>
                          <a:spcPts val="0"/>
                        </a:spcBef>
                        <a:spcAft>
                          <a:spcPts val="0"/>
                        </a:spcAft>
                      </a:pPr>
                      <a:r>
                        <a:rPr lang="en-US" sz="1200" dirty="0">
                          <a:effectLst/>
                        </a:rPr>
                        <a:t>EPO</a:t>
                      </a:r>
                      <a:endParaRPr lang="en-US" sz="1200" dirty="0">
                        <a:effectLst/>
                        <a:latin typeface="Calibri"/>
                        <a:ea typeface="Calibri"/>
                        <a:cs typeface="Times New Roman"/>
                      </a:endParaRPr>
                    </a:p>
                  </a:txBody>
                  <a:tcPr marL="8164" marR="8164" marT="8164" marB="8164" anchor="ctr"/>
                </a:tc>
                <a:tc>
                  <a:txBody>
                    <a:bodyPr/>
                    <a:lstStyle/>
                    <a:p>
                      <a:pPr marL="0" marR="0" algn="ctr">
                        <a:lnSpc>
                          <a:spcPct val="115000"/>
                        </a:lnSpc>
                        <a:spcBef>
                          <a:spcPts val="0"/>
                        </a:spcBef>
                        <a:spcAft>
                          <a:spcPts val="0"/>
                        </a:spcAft>
                      </a:pPr>
                      <a:r>
                        <a:rPr lang="en-US" sz="1200" dirty="0">
                          <a:effectLst/>
                        </a:rPr>
                        <a:t>No</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No</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Yes</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No</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Low</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No</a:t>
                      </a:r>
                      <a:endParaRPr lang="en-US" sz="1200" dirty="0">
                        <a:effectLst/>
                        <a:latin typeface="Calibri"/>
                        <a:ea typeface="Calibri"/>
                        <a:cs typeface="Times New Roman"/>
                      </a:endParaRPr>
                    </a:p>
                  </a:txBody>
                  <a:tcPr marL="8164" marR="8164" marT="8164" marB="8164"/>
                </a:tc>
                <a:extLst>
                  <a:ext uri="{0D108BD9-81ED-4DB2-BD59-A6C34878D82A}"/>
                </a:extLst>
              </a:tr>
              <a:tr h="857577">
                <a:tc>
                  <a:txBody>
                    <a:bodyPr/>
                    <a:lstStyle/>
                    <a:p>
                      <a:pPr marL="0" marR="0" algn="ctr">
                        <a:lnSpc>
                          <a:spcPct val="115000"/>
                        </a:lnSpc>
                        <a:spcBef>
                          <a:spcPts val="0"/>
                        </a:spcBef>
                        <a:spcAft>
                          <a:spcPts val="0"/>
                        </a:spcAft>
                      </a:pPr>
                      <a:r>
                        <a:rPr lang="en-US" sz="1200" dirty="0">
                          <a:effectLst/>
                        </a:rPr>
                        <a:t>PPO</a:t>
                      </a:r>
                      <a:endParaRPr lang="en-US" sz="1200" dirty="0">
                        <a:effectLst/>
                        <a:latin typeface="Calibri"/>
                        <a:ea typeface="Calibri"/>
                        <a:cs typeface="Times New Roman"/>
                      </a:endParaRPr>
                    </a:p>
                  </a:txBody>
                  <a:tcPr marL="8164" marR="8164" marT="8164" marB="8164" anchor="ctr"/>
                </a:tc>
                <a:tc>
                  <a:txBody>
                    <a:bodyPr/>
                    <a:lstStyle/>
                    <a:p>
                      <a:pPr marL="0" marR="0" algn="ctr">
                        <a:lnSpc>
                          <a:spcPct val="115000"/>
                        </a:lnSpc>
                        <a:spcBef>
                          <a:spcPts val="0"/>
                        </a:spcBef>
                        <a:spcAft>
                          <a:spcPts val="0"/>
                        </a:spcAft>
                      </a:pPr>
                      <a:r>
                        <a:rPr lang="en-US" sz="1200" dirty="0">
                          <a:effectLst/>
                        </a:rPr>
                        <a:t>No</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No</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Yes</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Yes</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0"/>
                        </a:spcAft>
                      </a:pPr>
                      <a:r>
                        <a:rPr lang="en-US" sz="1200" dirty="0">
                          <a:effectLst/>
                        </a:rPr>
                        <a:t>High, especially for out-of-network care.</a:t>
                      </a:r>
                      <a:endParaRPr lang="en-US" sz="1200" dirty="0">
                        <a:effectLst/>
                        <a:latin typeface="Calibri"/>
                        <a:ea typeface="Calibri"/>
                        <a:cs typeface="Times New Roman"/>
                      </a:endParaRPr>
                    </a:p>
                  </a:txBody>
                  <a:tcPr marL="8164" marR="8164" marT="8164" marB="8164"/>
                </a:tc>
                <a:tc>
                  <a:txBody>
                    <a:bodyPr/>
                    <a:lstStyle/>
                    <a:p>
                      <a:pPr marL="0" marR="0" algn="ctr">
                        <a:lnSpc>
                          <a:spcPct val="115000"/>
                        </a:lnSpc>
                        <a:spcBef>
                          <a:spcPts val="0"/>
                        </a:spcBef>
                        <a:spcAft>
                          <a:spcPts val="1000"/>
                        </a:spcAft>
                      </a:pPr>
                      <a:r>
                        <a:rPr lang="en-US" sz="1200" dirty="0">
                          <a:effectLst/>
                        </a:rPr>
                        <a:t>Only for out-of-network claims</a:t>
                      </a:r>
                      <a:endParaRPr lang="en-US" sz="1200" dirty="0">
                        <a:effectLst/>
                        <a:latin typeface="Calibri"/>
                        <a:ea typeface="Calibri"/>
                        <a:cs typeface="Times New Roman"/>
                      </a:endParaRPr>
                    </a:p>
                  </a:txBody>
                  <a:tcPr marL="8164" marR="8164" marT="8164" marB="8164"/>
                </a:tc>
                <a:extLst>
                  <a:ext uri="{0D108BD9-81ED-4DB2-BD59-A6C34878D82A}"/>
                </a:extLst>
              </a:tr>
            </a:tbl>
          </a:graphicData>
        </a:graphic>
      </p:graphicFrame>
    </p:spTree>
    <p:extLst>
      <p:ext uri="{BB962C8B-B14F-4D97-AF65-F5344CB8AC3E}">
        <p14:creationId xmlns:p14="http://schemas.microsoft.com/office/powerpoint/2010/main" val="38330499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smtClean="0"/>
              <a:t>Types of Health care Plans - Contd</a:t>
            </a:r>
          </a:p>
        </p:txBody>
      </p:sp>
      <p:sp>
        <p:nvSpPr>
          <p:cNvPr id="3" name="Content Placeholder 2"/>
          <p:cNvSpPr>
            <a:spLocks noGrp="1"/>
          </p:cNvSpPr>
          <p:nvPr>
            <p:ph idx="1"/>
          </p:nvPr>
        </p:nvSpPr>
        <p:spPr/>
        <p:txBody>
          <a:bodyPr/>
          <a:lstStyle/>
          <a:p>
            <a:pPr marL="0" indent="0">
              <a:buNone/>
              <a:defRPr/>
            </a:pPr>
            <a:r>
              <a:rPr lang="en-US" sz="1714" dirty="0"/>
              <a:t> </a:t>
            </a:r>
            <a:r>
              <a:rPr lang="en-US" sz="1714" b="1" dirty="0"/>
              <a:t>3. Consumer Driven Health Plans (CDHP)</a:t>
            </a:r>
            <a:endParaRPr lang="en-US" sz="1714" dirty="0"/>
          </a:p>
          <a:p>
            <a:pPr>
              <a:defRPr/>
            </a:pPr>
            <a:r>
              <a:rPr lang="en-US" sz="1714" dirty="0"/>
              <a:t>Consumer Driven Health Plans are the most recent effort by health insurers and employers to try to manage escalating healthcare costs. </a:t>
            </a:r>
          </a:p>
          <a:p>
            <a:pPr marL="342883" lvl="1" indent="-342883">
              <a:buFontTx/>
              <a:buChar char="•"/>
              <a:defRPr/>
            </a:pPr>
            <a:r>
              <a:rPr lang="en-US" sz="1714" dirty="0"/>
              <a:t>Combine a high-deductible health plan (HDHP) with a tax-advantaged personal savings account, also referred to as a consumer healthcare spending account </a:t>
            </a:r>
          </a:p>
          <a:p>
            <a:pPr>
              <a:defRPr/>
            </a:pPr>
            <a:r>
              <a:rPr lang="en-US" sz="1714" dirty="0"/>
              <a:t>CDHP’s are broadly defined as any health product that has “significant” member cost sharing, the most common product offered in the market today is a high deductible PPO combined with a Health Savings Account.</a:t>
            </a:r>
          </a:p>
          <a:p>
            <a:pPr lvl="1">
              <a:defRPr/>
            </a:pPr>
            <a:r>
              <a:rPr lang="en-US" sz="1714" dirty="0"/>
              <a:t>a) The high deductible PPO provides insurance coverage once the deductible is reached (often $2000 or more), but may cover some preventative services such as annual physical exams.</a:t>
            </a:r>
          </a:p>
          <a:p>
            <a:pPr lvl="1">
              <a:defRPr/>
            </a:pPr>
            <a:r>
              <a:rPr lang="en-US" sz="1714" dirty="0"/>
              <a:t>b) The Health Savings Account (HSA) is a tax-advantaged savings account that can be funded by the member or by the member’s employer to pay for qualified healthcare services. </a:t>
            </a:r>
          </a:p>
          <a:p>
            <a:pPr>
              <a:defRPr/>
            </a:pPr>
            <a:r>
              <a:rPr lang="en-US" sz="1714" dirty="0"/>
              <a:t>There are three offerings from CDHP, which are</a:t>
            </a:r>
          </a:p>
          <a:p>
            <a:pPr lvl="1">
              <a:defRPr/>
            </a:pPr>
            <a:r>
              <a:rPr lang="en-US" sz="1714" b="1" dirty="0"/>
              <a:t>HSA, HRA, FSA</a:t>
            </a:r>
          </a:p>
          <a:p>
            <a:pPr marL="0" indent="0">
              <a:buNone/>
              <a:defRPr/>
            </a:pPr>
            <a:endParaRPr lang="en-US" dirty="0"/>
          </a:p>
        </p:txBody>
      </p:sp>
    </p:spTree>
    <p:extLst>
      <p:ext uri="{BB962C8B-B14F-4D97-AF65-F5344CB8AC3E}">
        <p14:creationId xmlns:p14="http://schemas.microsoft.com/office/powerpoint/2010/main" val="39734686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smtClean="0"/>
              <a:t>Types of Health care Plans - Contd</a:t>
            </a:r>
          </a:p>
        </p:txBody>
      </p:sp>
      <p:sp>
        <p:nvSpPr>
          <p:cNvPr id="3" name="Content Placeholder 2"/>
          <p:cNvSpPr>
            <a:spLocks noGrp="1"/>
          </p:cNvSpPr>
          <p:nvPr>
            <p:ph idx="1"/>
          </p:nvPr>
        </p:nvSpPr>
        <p:spPr>
          <a:xfrm>
            <a:off x="1850572" y="1796143"/>
            <a:ext cx="8043183" cy="5061857"/>
          </a:xfrm>
        </p:spPr>
        <p:txBody>
          <a:bodyPr/>
          <a:lstStyle/>
          <a:p>
            <a:pPr marL="0" indent="0">
              <a:buNone/>
              <a:defRPr/>
            </a:pPr>
            <a:r>
              <a:rPr lang="en-US" sz="1714" b="1" dirty="0"/>
              <a:t>4. Government Sponsored programs</a:t>
            </a:r>
            <a:endParaRPr lang="en-US" sz="1714" dirty="0"/>
          </a:p>
          <a:p>
            <a:pPr>
              <a:defRPr/>
            </a:pPr>
            <a:r>
              <a:rPr lang="en-US" sz="1714" b="1" dirty="0"/>
              <a:t>Medicare</a:t>
            </a:r>
            <a:r>
              <a:rPr lang="en-US" sz="1714" dirty="0"/>
              <a:t>:  A federal government to provide hospital expense and medical expense insurance to elderly and disabled persons. Medicare benefits are available for </a:t>
            </a:r>
          </a:p>
          <a:p>
            <a:pPr lvl="1">
              <a:defRPr/>
            </a:pPr>
            <a:r>
              <a:rPr lang="en-US" sz="1714" dirty="0"/>
              <a:t>Individuals aged 65 or above who (or their spouse) have worked for at least 10 years in Medicare-covered employment and a citizen or permanent resident of the US.</a:t>
            </a:r>
          </a:p>
          <a:p>
            <a:pPr lvl="1">
              <a:defRPr/>
            </a:pPr>
            <a:r>
              <a:rPr lang="en-US" sz="1714" dirty="0"/>
              <a:t>Individuals under 65 and disabled and receiving disability benefits from either Social Security or the Railroad Retirement Board for at least 24 months.</a:t>
            </a:r>
          </a:p>
          <a:p>
            <a:pPr lvl="1">
              <a:defRPr/>
            </a:pPr>
            <a:r>
              <a:rPr lang="en-US" sz="1714" dirty="0"/>
              <a:t>Individuals under 65 years and are disabled or have end stage renal disease.</a:t>
            </a:r>
          </a:p>
          <a:p>
            <a:pPr marL="342883" lvl="1" indent="-342883">
              <a:buFontTx/>
              <a:buChar char="•"/>
              <a:defRPr/>
            </a:pPr>
            <a:r>
              <a:rPr lang="en-US" sz="1714" dirty="0"/>
              <a:t>Medicare was established as part of the Social Security Act of 1965 and is a federal program managed by Centers for Medicare and Medicaid Services (CMS).</a:t>
            </a:r>
          </a:p>
          <a:p>
            <a:pPr marL="342883" lvl="1" indent="-342883">
              <a:buFontTx/>
              <a:buChar char="•"/>
              <a:defRPr/>
            </a:pPr>
            <a:r>
              <a:rPr lang="en-US" sz="1714" dirty="0"/>
              <a:t>In 2010, Medicare provided health insurance to 48 million Americans—40 million people age 65 and older and eight million younger people with disabilities.</a:t>
            </a:r>
          </a:p>
        </p:txBody>
      </p:sp>
    </p:spTree>
    <p:extLst>
      <p:ext uri="{BB962C8B-B14F-4D97-AF65-F5344CB8AC3E}">
        <p14:creationId xmlns:p14="http://schemas.microsoft.com/office/powerpoint/2010/main" val="37728355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smtClean="0"/>
              <a:t>Types of Health care Plans - Contd</a:t>
            </a:r>
          </a:p>
        </p:txBody>
      </p:sp>
      <p:sp>
        <p:nvSpPr>
          <p:cNvPr id="3" name="Content Placeholder 2"/>
          <p:cNvSpPr>
            <a:spLocks noGrp="1"/>
          </p:cNvSpPr>
          <p:nvPr>
            <p:ph idx="1"/>
          </p:nvPr>
        </p:nvSpPr>
        <p:spPr/>
        <p:txBody>
          <a:bodyPr/>
          <a:lstStyle/>
          <a:p>
            <a:pPr marL="0" indent="0">
              <a:buNone/>
              <a:defRPr/>
            </a:pPr>
            <a:r>
              <a:rPr lang="en-US" sz="1714" b="1" dirty="0"/>
              <a:t>4. Government Sponsored programs (Contd)</a:t>
            </a:r>
          </a:p>
          <a:p>
            <a:pPr>
              <a:defRPr/>
            </a:pPr>
            <a:r>
              <a:rPr lang="en-US" sz="1714" b="1" dirty="0"/>
              <a:t>Medicaid: </a:t>
            </a:r>
            <a:r>
              <a:rPr lang="en-US" sz="1714" dirty="0"/>
              <a:t>Medicaid, a joint federal and state program that provides hospital expense and medical expense coverage to the low-income population and certain aged and disabled individuals. Federal government, establishes broad guidelines for Medicaid programs, provides partial funding for states, and sets minimum standards for eligibility, benefits, and provider.</a:t>
            </a:r>
          </a:p>
          <a:p>
            <a:pPr>
              <a:defRPr/>
            </a:pPr>
            <a:r>
              <a:rPr lang="en-US" sz="1714" dirty="0"/>
              <a:t>Some states have programs to cover the medically needy (aged, blind, disabled, pregnant women and children under 18) that do not qualify under the low income provision. </a:t>
            </a:r>
          </a:p>
          <a:p>
            <a:pPr marL="0" indent="0">
              <a:buNone/>
              <a:defRPr/>
            </a:pPr>
            <a:r>
              <a:rPr lang="en-US" altLang="en-US" sz="1886" b="1" dirty="0">
                <a:latin typeface="Calibri" panose="020F0502020204030204" pitchFamily="34" charset="0"/>
              </a:rPr>
              <a:t>Some Other Govt. Programs :</a:t>
            </a:r>
          </a:p>
          <a:p>
            <a:pPr marL="342883" lvl="1" indent="-342883">
              <a:buFontTx/>
              <a:buChar char="•"/>
              <a:defRPr/>
            </a:pPr>
            <a:r>
              <a:rPr lang="en-US" altLang="en-US" sz="1714" dirty="0"/>
              <a:t>State Children’s Health Insurance Program SCHIP</a:t>
            </a:r>
          </a:p>
          <a:p>
            <a:pPr marL="342883" lvl="1" indent="-342883">
              <a:buFontTx/>
              <a:buChar char="•"/>
              <a:defRPr/>
            </a:pPr>
            <a:r>
              <a:rPr lang="en-US" altLang="en-US" sz="1714" dirty="0"/>
              <a:t>Health care program serving Uniformed Service members, retirees and their families worldwide (TRICARE)</a:t>
            </a:r>
          </a:p>
          <a:p>
            <a:pPr marL="0" indent="0">
              <a:buNone/>
              <a:defRPr/>
            </a:pPr>
            <a:endParaRPr lang="en-US" sz="1714" dirty="0"/>
          </a:p>
        </p:txBody>
      </p:sp>
    </p:spTree>
    <p:extLst>
      <p:ext uri="{BB962C8B-B14F-4D97-AF65-F5344CB8AC3E}">
        <p14:creationId xmlns:p14="http://schemas.microsoft.com/office/powerpoint/2010/main" val="42413885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TotalTime>
  <Words>2044</Words>
  <Application>Microsoft Office PowerPoint</Application>
  <PresentationFormat>Widescreen</PresentationFormat>
  <Paragraphs>156</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Office Theme</vt:lpstr>
      <vt:lpstr>Healthcare Overview</vt:lpstr>
      <vt:lpstr>Types of Health Insurance in US</vt:lpstr>
      <vt:lpstr> Insurance terminologies</vt:lpstr>
      <vt:lpstr>In-Network and Out of Network Providers</vt:lpstr>
      <vt:lpstr>Copay, Coinsurance &amp; Deductible</vt:lpstr>
      <vt:lpstr>Types of Health care Plans</vt:lpstr>
      <vt:lpstr>Types of Health care Plans - Contd</vt:lpstr>
      <vt:lpstr>Types of Health care Plans - Contd</vt:lpstr>
      <vt:lpstr>Types of Health care Plans - Contd</vt:lpstr>
      <vt:lpstr>Types of Health care Plans - Contd</vt:lpstr>
      <vt:lpstr>Types of Health care Plans - Contd</vt:lpstr>
      <vt:lpstr>Types of Health care Plans – Contd Comparison chart of Managed care plans</vt:lpstr>
      <vt:lpstr>Types of Health care Plans - Contd</vt:lpstr>
      <vt:lpstr>Types of Health care Plans - Contd</vt:lpstr>
      <vt:lpstr>Types of Health care Plans - Contd</vt:lpstr>
    </vt:vector>
  </TitlesOfParts>
  <Company>Accenture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Overview</dc:title>
  <dc:creator>Ghosh, Joyita A.</dc:creator>
  <cp:lastModifiedBy>Ghosh, Joyita A.</cp:lastModifiedBy>
  <cp:revision>5</cp:revision>
  <dcterms:created xsi:type="dcterms:W3CDTF">2016-11-15T06:50:00Z</dcterms:created>
  <dcterms:modified xsi:type="dcterms:W3CDTF">2016-11-29T09:25:55Z</dcterms:modified>
</cp:coreProperties>
</file>