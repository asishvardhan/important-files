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801600" cy="9144000"/>
  <p:notesSz cx="6858000" cy="9144000"/>
  <p:defaultTextStyle>
    <a:defPPr>
      <a:defRPr lang="en-US"/>
    </a:defPPr>
    <a:lvl1pPr marL="0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46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92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238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984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731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477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223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969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CC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F2D0B-42D8-4F1F-887A-18AEFDA28ABA}" v="2" dt="2026-03-27T10:15:46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1584" y="260"/>
      </p:cViewPr>
      <p:guideLst>
        <p:guide orient="horz" pos="2880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dhan Vankayala, A." userId="8db0d2e6-76f2-4200-9ead-f19a890d7bfe" providerId="ADAL" clId="{28A0C975-E7CF-406A-A23F-F8D224F98F20}"/>
    <pc:docChg chg="modSld">
      <pc:chgData name="Vardhan Vankayala, A." userId="8db0d2e6-76f2-4200-9ead-f19a890d7bfe" providerId="ADAL" clId="{28A0C975-E7CF-406A-A23F-F8D224F98F20}" dt="2026-03-27T10:16:30.522" v="41" actId="207"/>
      <pc:docMkLst>
        <pc:docMk/>
      </pc:docMkLst>
      <pc:sldChg chg="modSp mod">
        <pc:chgData name="Vardhan Vankayala, A." userId="8db0d2e6-76f2-4200-9ead-f19a890d7bfe" providerId="ADAL" clId="{28A0C975-E7CF-406A-A23F-F8D224F98F20}" dt="2026-03-27T10:16:30.522" v="41" actId="207"/>
        <pc:sldMkLst>
          <pc:docMk/>
          <pc:sldMk cId="544633201" sldId="261"/>
        </pc:sldMkLst>
        <pc:spChg chg="mod">
          <ac:chgData name="Vardhan Vankayala, A." userId="8db0d2e6-76f2-4200-9ead-f19a890d7bfe" providerId="ADAL" clId="{28A0C975-E7CF-406A-A23F-F8D224F98F20}" dt="2026-03-27T10:16:30.522" v="41" actId="207"/>
          <ac:spMkLst>
            <pc:docMk/>
            <pc:sldMk cId="544633201" sldId="261"/>
            <ac:spMk id="21" creationId="{EF521B4F-642A-4884-94DB-1351CBECA9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EC0B0-BF4A-446E-88C7-9A1EEE54EE27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28700" y="685800"/>
            <a:ext cx="4800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2311A-0B77-4BF2-B0ED-F32530BF3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4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46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92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238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984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731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477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223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969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 userDrawn="1"/>
        </p:nvSpPr>
        <p:spPr>
          <a:xfrm>
            <a:off x="4495800" y="7391400"/>
            <a:ext cx="8348147" cy="1516456"/>
          </a:xfrm>
          <a:prstGeom prst="rect">
            <a:avLst/>
          </a:prstGeom>
          <a:noFill/>
        </p:spPr>
        <p:txBody>
          <a:bodyPr wrap="none" lIns="114949" tIns="57475" rIns="114949" bIns="57475" rtlCol="0">
            <a:spAutoFit/>
          </a:bodyPr>
          <a:lstStyle/>
          <a:p>
            <a:r>
              <a:rPr lang="en-US" sz="450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Srinagaveer Vundavalli</a:t>
            </a:r>
          </a:p>
          <a:p>
            <a:r>
              <a:rPr lang="en-US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Service Delivery Manager : XXXX Group (Jun’12 - May’13) </a:t>
            </a:r>
          </a:p>
          <a:p>
            <a:r>
              <a:rPr lang="en-US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PPA                                      : RESERG09</a:t>
            </a:r>
            <a:endParaRPr lang="en-US" sz="45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3792" y="8475135"/>
            <a:ext cx="2987040" cy="4868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37592" y="8475135"/>
            <a:ext cx="4053840" cy="4868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38192" y="8475135"/>
            <a:ext cx="2987040" cy="4868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692312" y="415637"/>
            <a:ext cx="3057207" cy="847628"/>
            <a:chOff x="448031" y="5788818"/>
            <a:chExt cx="2183719" cy="63572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031" y="6039743"/>
              <a:ext cx="2183719" cy="384796"/>
            </a:xfrm>
            <a:prstGeom prst="rect">
              <a:avLst/>
            </a:prstGeom>
          </p:spPr>
        </p:pic>
        <p:sp>
          <p:nvSpPr>
            <p:cNvPr id="9" name="Freeform 8"/>
            <p:cNvSpPr/>
            <p:nvPr/>
          </p:nvSpPr>
          <p:spPr>
            <a:xfrm>
              <a:off x="1730496" y="5788818"/>
              <a:ext cx="210221" cy="21510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10" name="Straight Connector 9"/>
          <p:cNvCxnSpPr>
            <a:cxnSpLocks noChangeShapeType="1"/>
          </p:cNvCxnSpPr>
          <p:nvPr userDrawn="1"/>
        </p:nvCxnSpPr>
        <p:spPr bwMode="auto">
          <a:xfrm>
            <a:off x="695644" y="1469733"/>
            <a:ext cx="12105956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</p:spPr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204" y="1066489"/>
            <a:ext cx="3540441" cy="229073"/>
          </a:xfrm>
          <a:prstGeom prst="rect">
            <a:avLst/>
          </a:prstGeom>
        </p:spPr>
      </p:pic>
      <p:pic>
        <p:nvPicPr>
          <p:cNvPr id="19" name="Picture 3" descr="S:\T-Mark\Accenture\2012-2079-Accenture Way\buildfiles\templates\TheAccentureWay_V3-2012-04-13.emf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1"/>
          <a:stretch/>
        </p:blipFill>
        <p:spPr bwMode="auto">
          <a:xfrm>
            <a:off x="6393571" y="1334753"/>
            <a:ext cx="6087990" cy="479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4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"/>
          <a:stretch/>
        </p:blipFill>
        <p:spPr bwMode="auto">
          <a:xfrm>
            <a:off x="355600" y="5393904"/>
            <a:ext cx="6244336" cy="1467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20" y="7328381"/>
            <a:ext cx="2230472" cy="15987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6459" y="7328382"/>
            <a:ext cx="1917980" cy="1607403"/>
          </a:xfrm>
          <a:prstGeom prst="rect">
            <a:avLst/>
          </a:prstGeom>
        </p:spPr>
      </p:pic>
      <p:pic>
        <p:nvPicPr>
          <p:cNvPr id="17" name="Picture 16" descr="pic1.jpg"/>
          <p:cNvPicPr>
            <a:picLocks noChangeAspect="1"/>
          </p:cNvPicPr>
          <p:nvPr userDrawn="1"/>
        </p:nvPicPr>
        <p:blipFill rotWithShape="1">
          <a:blip r:embed="rId8" cstate="print"/>
          <a:srcRect t="34030"/>
          <a:stretch/>
        </p:blipFill>
        <p:spPr>
          <a:xfrm flipH="1">
            <a:off x="4473567" y="7328384"/>
            <a:ext cx="2108769" cy="161126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1442" y="7318821"/>
            <a:ext cx="2240280" cy="1620825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2866" y="7318820"/>
            <a:ext cx="2240280" cy="1608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6150" y="7328382"/>
            <a:ext cx="1361410" cy="161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5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33337"/>
            <a:ext cx="1317625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135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9" y="5875867"/>
            <a:ext cx="10881360" cy="1816100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9" y="3875619"/>
            <a:ext cx="10881360" cy="200024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46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9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2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98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7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4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2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9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9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2133602"/>
            <a:ext cx="5654040" cy="6034617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2133602"/>
            <a:ext cx="5654040" cy="6034617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64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046817"/>
            <a:ext cx="5656264" cy="853016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46" indent="0">
              <a:buNone/>
              <a:defRPr sz="2500" b="1"/>
            </a:lvl2pPr>
            <a:lvl3pPr marL="1149492" indent="0">
              <a:buNone/>
              <a:defRPr sz="2300" b="1"/>
            </a:lvl3pPr>
            <a:lvl4pPr marL="1724238" indent="0">
              <a:buNone/>
              <a:defRPr sz="2000" b="1"/>
            </a:lvl4pPr>
            <a:lvl5pPr marL="2298984" indent="0">
              <a:buNone/>
              <a:defRPr sz="2000" b="1"/>
            </a:lvl5pPr>
            <a:lvl6pPr marL="2873731" indent="0">
              <a:buNone/>
              <a:defRPr sz="2000" b="1"/>
            </a:lvl6pPr>
            <a:lvl7pPr marL="3448477" indent="0">
              <a:buNone/>
              <a:defRPr sz="2000" b="1"/>
            </a:lvl7pPr>
            <a:lvl8pPr marL="4023223" indent="0">
              <a:buNone/>
              <a:defRPr sz="2000" b="1"/>
            </a:lvl8pPr>
            <a:lvl9pPr marL="4597969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899833"/>
            <a:ext cx="5656264" cy="5268384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6" y="2046817"/>
            <a:ext cx="5658485" cy="853016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46" indent="0">
              <a:buNone/>
              <a:defRPr sz="2500" b="1"/>
            </a:lvl2pPr>
            <a:lvl3pPr marL="1149492" indent="0">
              <a:buNone/>
              <a:defRPr sz="2300" b="1"/>
            </a:lvl3pPr>
            <a:lvl4pPr marL="1724238" indent="0">
              <a:buNone/>
              <a:defRPr sz="2000" b="1"/>
            </a:lvl4pPr>
            <a:lvl5pPr marL="2298984" indent="0">
              <a:buNone/>
              <a:defRPr sz="2000" b="1"/>
            </a:lvl5pPr>
            <a:lvl6pPr marL="2873731" indent="0">
              <a:buNone/>
              <a:defRPr sz="2000" b="1"/>
            </a:lvl6pPr>
            <a:lvl7pPr marL="3448477" indent="0">
              <a:buNone/>
              <a:defRPr sz="2000" b="1"/>
            </a:lvl7pPr>
            <a:lvl8pPr marL="4023223" indent="0">
              <a:buNone/>
              <a:defRPr sz="2000" b="1"/>
            </a:lvl8pPr>
            <a:lvl9pPr marL="4597969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6" y="2899833"/>
            <a:ext cx="5658485" cy="5268384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3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72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4067"/>
            <a:ext cx="4211639" cy="1549400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364068"/>
            <a:ext cx="7156450" cy="7804151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1913468"/>
            <a:ext cx="4211639" cy="6254751"/>
          </a:xfrm>
        </p:spPr>
        <p:txBody>
          <a:bodyPr/>
          <a:lstStyle>
            <a:lvl1pPr marL="0" indent="0">
              <a:buNone/>
              <a:defRPr sz="1800"/>
            </a:lvl1pPr>
            <a:lvl2pPr marL="574746" indent="0">
              <a:buNone/>
              <a:defRPr sz="1500"/>
            </a:lvl2pPr>
            <a:lvl3pPr marL="1149492" indent="0">
              <a:buNone/>
              <a:defRPr sz="1300"/>
            </a:lvl3pPr>
            <a:lvl4pPr marL="1724238" indent="0">
              <a:buNone/>
              <a:defRPr sz="1100"/>
            </a:lvl4pPr>
            <a:lvl5pPr marL="2298984" indent="0">
              <a:buNone/>
              <a:defRPr sz="1100"/>
            </a:lvl5pPr>
            <a:lvl6pPr marL="2873731" indent="0">
              <a:buNone/>
              <a:defRPr sz="1100"/>
            </a:lvl6pPr>
            <a:lvl7pPr marL="3448477" indent="0">
              <a:buNone/>
              <a:defRPr sz="1100"/>
            </a:lvl7pPr>
            <a:lvl8pPr marL="4023223" indent="0">
              <a:buNone/>
              <a:defRPr sz="1100"/>
            </a:lvl8pPr>
            <a:lvl9pPr marL="459796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9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4" y="6400801"/>
            <a:ext cx="7680960" cy="75565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4" y="817033"/>
            <a:ext cx="7680960" cy="5486400"/>
          </a:xfrm>
        </p:spPr>
        <p:txBody>
          <a:bodyPr/>
          <a:lstStyle>
            <a:lvl1pPr marL="0" indent="0">
              <a:buNone/>
              <a:defRPr sz="4000"/>
            </a:lvl1pPr>
            <a:lvl2pPr marL="574746" indent="0">
              <a:buNone/>
              <a:defRPr sz="3500"/>
            </a:lvl2pPr>
            <a:lvl3pPr marL="1149492" indent="0">
              <a:buNone/>
              <a:defRPr sz="3000"/>
            </a:lvl3pPr>
            <a:lvl4pPr marL="1724238" indent="0">
              <a:buNone/>
              <a:defRPr sz="2500"/>
            </a:lvl4pPr>
            <a:lvl5pPr marL="2298984" indent="0">
              <a:buNone/>
              <a:defRPr sz="2500"/>
            </a:lvl5pPr>
            <a:lvl6pPr marL="2873731" indent="0">
              <a:buNone/>
              <a:defRPr sz="2500"/>
            </a:lvl6pPr>
            <a:lvl7pPr marL="3448477" indent="0">
              <a:buNone/>
              <a:defRPr sz="2500"/>
            </a:lvl7pPr>
            <a:lvl8pPr marL="4023223" indent="0">
              <a:buNone/>
              <a:defRPr sz="2500"/>
            </a:lvl8pPr>
            <a:lvl9pPr marL="4597969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4" y="7156452"/>
            <a:ext cx="7680960" cy="1073149"/>
          </a:xfrm>
        </p:spPr>
        <p:txBody>
          <a:bodyPr/>
          <a:lstStyle>
            <a:lvl1pPr marL="0" indent="0">
              <a:buNone/>
              <a:defRPr sz="1800"/>
            </a:lvl1pPr>
            <a:lvl2pPr marL="574746" indent="0">
              <a:buNone/>
              <a:defRPr sz="1500"/>
            </a:lvl2pPr>
            <a:lvl3pPr marL="1149492" indent="0">
              <a:buNone/>
              <a:defRPr sz="1300"/>
            </a:lvl3pPr>
            <a:lvl4pPr marL="1724238" indent="0">
              <a:buNone/>
              <a:defRPr sz="1100"/>
            </a:lvl4pPr>
            <a:lvl5pPr marL="2298984" indent="0">
              <a:buNone/>
              <a:defRPr sz="1100"/>
            </a:lvl5pPr>
            <a:lvl6pPr marL="2873731" indent="0">
              <a:buNone/>
              <a:defRPr sz="1100"/>
            </a:lvl6pPr>
            <a:lvl7pPr marL="3448477" indent="0">
              <a:buNone/>
              <a:defRPr sz="1100"/>
            </a:lvl7pPr>
            <a:lvl8pPr marL="4023223" indent="0">
              <a:buNone/>
              <a:defRPr sz="1100"/>
            </a:lvl8pPr>
            <a:lvl9pPr marL="459796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4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4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366186"/>
            <a:ext cx="288036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366186"/>
            <a:ext cx="842772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47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366184"/>
            <a:ext cx="11521440" cy="1524000"/>
          </a:xfrm>
          <a:prstGeom prst="rect">
            <a:avLst/>
          </a:prstGeom>
        </p:spPr>
        <p:txBody>
          <a:bodyPr vert="horz" lIns="114949" tIns="57475" rIns="114949" bIns="5747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133602"/>
            <a:ext cx="11521440" cy="6034617"/>
          </a:xfrm>
          <a:prstGeom prst="rect">
            <a:avLst/>
          </a:prstGeom>
        </p:spPr>
        <p:txBody>
          <a:bodyPr vert="horz" lIns="114949" tIns="57475" rIns="114949" bIns="5747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8475135"/>
            <a:ext cx="2987040" cy="486833"/>
          </a:xfrm>
          <a:prstGeom prst="rect">
            <a:avLst/>
          </a:prstGeom>
        </p:spPr>
        <p:txBody>
          <a:bodyPr vert="horz" lIns="114949" tIns="57475" rIns="114949" bIns="57475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BE73A-6AE2-45E7-83E1-4FF2771465EF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8475135"/>
            <a:ext cx="4053840" cy="486833"/>
          </a:xfrm>
          <a:prstGeom prst="rect">
            <a:avLst/>
          </a:prstGeom>
        </p:spPr>
        <p:txBody>
          <a:bodyPr vert="horz" lIns="114949" tIns="57475" rIns="114949" bIns="57475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8475135"/>
            <a:ext cx="2987040" cy="486833"/>
          </a:xfrm>
          <a:prstGeom prst="rect">
            <a:avLst/>
          </a:prstGeom>
        </p:spPr>
        <p:txBody>
          <a:bodyPr vert="horz" lIns="114949" tIns="57475" rIns="114949" bIns="57475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BBB16-77A9-4D30-BDD5-BC66A89AAD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7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49492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60" indent="-431060" algn="l" defTabSz="1149492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62" indent="-359216" algn="l" defTabSz="1149492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65" indent="-287373" algn="l" defTabSz="1149492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611" indent="-287373" algn="l" defTabSz="1149492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358" indent="-287373" algn="l" defTabSz="1149492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1104" indent="-287373" algn="l" defTabSz="114949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850" indent="-287373" algn="l" defTabSz="114949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596" indent="-287373" algn="l" defTabSz="114949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342" indent="-287373" algn="l" defTabSz="114949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92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46" algn="l" defTabSz="1149492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92" algn="l" defTabSz="1149492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238" algn="l" defTabSz="1149492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984" algn="l" defTabSz="1149492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731" algn="l" defTabSz="1149492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477" algn="l" defTabSz="1149492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223" algn="l" defTabSz="1149492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969" algn="l" defTabSz="1149492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FA0C6C-19D4-4236-943F-6F84F624BEAE}"/>
              </a:ext>
            </a:extLst>
          </p:cNvPr>
          <p:cNvGrpSpPr/>
          <p:nvPr/>
        </p:nvGrpSpPr>
        <p:grpSpPr>
          <a:xfrm>
            <a:off x="354361" y="-3291"/>
            <a:ext cx="12471024" cy="1665006"/>
            <a:chOff x="220938" y="1315327"/>
            <a:chExt cx="8838567" cy="3070935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7E44481F-41F6-468F-99AA-9C2806807A0C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blackWhite">
            <a:xfrm>
              <a:off x="6830012" y="1942917"/>
              <a:ext cx="2229493" cy="244334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Driven by proactive ownership </a:t>
              </a: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automation, and measurable impact</a:t>
              </a:r>
              <a:r>
                <a:rPr lang="en-US" sz="1400" b="1" dirty="0"/>
                <a:t>.</a:t>
              </a:r>
              <a:endParaRPr lang="en-US" sz="1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Rectangle 8">
              <a:extLst>
                <a:ext uri="{FF2B5EF4-FFF2-40B4-BE49-F238E27FC236}">
                  <a16:creationId xmlns:a16="http://schemas.microsoft.com/office/drawing/2014/main" id="{46FACE02-2F00-4364-A3B9-8C340C9BC4EA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blackWhite">
            <a:xfrm>
              <a:off x="4491867" y="1909922"/>
              <a:ext cx="2296661" cy="244334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Played a pivotal role in driving service</a:t>
              </a: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 reliability</a:t>
              </a: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 through automation,</a:t>
              </a: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 RCA,  knowledge-sharing initiatives </a:t>
              </a:r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2F4333B8-6E46-4946-8386-C92767094F5E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blackWhite">
            <a:xfrm>
              <a:off x="2455862" y="1942917"/>
              <a:ext cx="2013210" cy="244334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3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66B93033-2630-47B4-B231-E9BF5D35C5F5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blackWhite">
            <a:xfrm>
              <a:off x="255244" y="2051731"/>
              <a:ext cx="2183784" cy="206389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1400" b="1" dirty="0">
                  <a:latin typeface="Arial" pitchFamily="34" charset="0"/>
                  <a:cs typeface="Arial" pitchFamily="34" charset="0"/>
                </a:rPr>
                <a:t>Client Name</a:t>
              </a:r>
              <a:r>
                <a:rPr lang="en-US" sz="1400" dirty="0">
                  <a:latin typeface="Arial" pitchFamily="34" charset="0"/>
                  <a:cs typeface="Arial" pitchFamily="34" charset="0"/>
                </a:rPr>
                <a:t>: </a:t>
              </a:r>
              <a:r>
                <a:rPr lang="en-US" sz="1400" b="1" dirty="0">
                  <a:latin typeface="Arial" pitchFamily="34" charset="0"/>
                  <a:cs typeface="Arial" pitchFamily="34" charset="0"/>
                </a:rPr>
                <a:t>HCSC</a:t>
              </a:r>
            </a:p>
            <a:p>
              <a:pPr eaLnBrk="0" hangingPunct="0"/>
              <a:r>
                <a:rPr lang="en-US" sz="1400" b="1" dirty="0">
                  <a:latin typeface="Arial" pitchFamily="34" charset="0"/>
                  <a:cs typeface="Arial" pitchFamily="34" charset="0"/>
                </a:rPr>
                <a:t>Name: ASISH VARDHAN 	</a:t>
              </a:r>
            </a:p>
            <a:p>
              <a:pPr eaLnBrk="0" hangingPunct="0"/>
              <a:r>
                <a:rPr lang="en-US" sz="1400" b="1" dirty="0">
                  <a:latin typeface="Arial" pitchFamily="34" charset="0"/>
                  <a:cs typeface="Arial" pitchFamily="34" charset="0"/>
                </a:rPr>
                <a:t>Role: Senior Software Analyst		</a:t>
              </a:r>
            </a:p>
            <a:p>
              <a:pPr eaLnBrk="0" hangingPunct="0"/>
              <a:r>
                <a:rPr lang="en-US" sz="1400" b="1" dirty="0">
                  <a:latin typeface="Arial" pitchFamily="34" charset="0"/>
                  <a:cs typeface="Arial" pitchFamily="34" charset="0"/>
                </a:rPr>
                <a:t>MAL: 29 </a:t>
              </a:r>
              <a:r>
                <a:rPr lang="en-US" sz="1400" dirty="0">
                  <a:latin typeface="Arial" pitchFamily="34" charset="0"/>
                  <a:cs typeface="Arial" pitchFamily="34" charset="0"/>
                </a:rPr>
                <a:t> </a:t>
              </a:r>
            </a:p>
            <a:p>
              <a:pPr eaLnBrk="0" hangingPunct="0"/>
              <a:r>
                <a:rPr lang="en-US" sz="1200" dirty="0">
                  <a:latin typeface="Arial" pitchFamily="34" charset="0"/>
                  <a:cs typeface="Arial" pitchFamily="34" charset="0"/>
                </a:rPr>
                <a:t>                    </a:t>
              </a:r>
            </a:p>
          </p:txBody>
        </p:sp>
        <p:sp>
          <p:nvSpPr>
            <p:cNvPr id="7" name="Rectangle 20">
              <a:extLst>
                <a:ext uri="{FF2B5EF4-FFF2-40B4-BE49-F238E27FC236}">
                  <a16:creationId xmlns:a16="http://schemas.microsoft.com/office/drawing/2014/main" id="{F2F7203A-9E62-4839-B3ED-9AF4AC1D5C76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90673" y="1956982"/>
              <a:ext cx="2102769" cy="21390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73038" lvl="1" indent="-171450" defTabSz="895350">
                <a:spcBef>
                  <a:spcPts val="300"/>
                </a:spcBef>
                <a:spcAft>
                  <a:spcPts val="300"/>
                </a:spcAft>
                <a:buSzPct val="120000"/>
                <a:buFont typeface="Arial" pitchFamily="34" charset="0"/>
                <a:buChar char="•"/>
              </a:pPr>
              <a:endParaRPr lang="en-US" sz="1300">
                <a:solidFill>
                  <a:srgbClr val="002060"/>
                </a:solidFill>
                <a:latin typeface="Arial" pitchFamily="34" charset="0"/>
                <a:cs typeface="Arial" pitchFamily="34" charset="0"/>
              </a:endParaRPr>
            </a:p>
            <a:p>
              <a:pPr marL="173038" lvl="1" indent="-171450" defTabSz="895350">
                <a:spcBef>
                  <a:spcPts val="300"/>
                </a:spcBef>
                <a:spcAft>
                  <a:spcPts val="300"/>
                </a:spcAft>
                <a:buSzPct val="120000"/>
                <a:buFont typeface="Arial" pitchFamily="34" charset="0"/>
                <a:buChar char="•"/>
              </a:pPr>
              <a:endParaRPr lang="en-US" sz="1300">
                <a:solidFill>
                  <a:srgbClr val="002060"/>
                </a:solidFill>
                <a:latin typeface="Arial" pitchFamily="34" charset="0"/>
                <a:cs typeface="Arial" pitchFamily="34" charset="0"/>
              </a:endParaRPr>
            </a:p>
            <a:p>
              <a:pPr marL="173038" lvl="1" indent="-171450" defTabSz="895350">
                <a:spcBef>
                  <a:spcPts val="300"/>
                </a:spcBef>
                <a:spcAft>
                  <a:spcPts val="300"/>
                </a:spcAft>
                <a:buSzPct val="120000"/>
                <a:buFont typeface="Arial" pitchFamily="34" charset="0"/>
                <a:buChar char="•"/>
              </a:pPr>
              <a:endParaRPr lang="en-US" sz="1200">
                <a:solidFill>
                  <a:srgbClr val="002060"/>
                </a:solidFill>
                <a:latin typeface="Arial" pitchFamily="34" charset="0"/>
                <a:cs typeface="Arial" pitchFamily="34" charset="0"/>
              </a:endParaRPr>
            </a:p>
            <a:p>
              <a:pPr marL="173038" lvl="1" indent="-171450" defTabSz="895350">
                <a:spcBef>
                  <a:spcPts val="300"/>
                </a:spcBef>
                <a:spcAft>
                  <a:spcPts val="300"/>
                </a:spcAft>
                <a:buSzPct val="120000"/>
                <a:buFont typeface="Arial" pitchFamily="34" charset="0"/>
                <a:buChar char="•"/>
              </a:pPr>
              <a:endParaRPr lang="en-US" sz="1300">
                <a:solidFill>
                  <a:srgbClr val="00206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Pentagon 20">
              <a:extLst>
                <a:ext uri="{FF2B5EF4-FFF2-40B4-BE49-F238E27FC236}">
                  <a16:creationId xmlns:a16="http://schemas.microsoft.com/office/drawing/2014/main" id="{70A419BD-69AE-49B5-B761-0DD238DFF256}"/>
                </a:ext>
              </a:extLst>
            </p:cNvPr>
            <p:cNvSpPr/>
            <p:nvPr/>
          </p:nvSpPr>
          <p:spPr bwMode="gray">
            <a:xfrm rot="5400000">
              <a:off x="866410" y="669855"/>
              <a:ext cx="842649" cy="2133594"/>
            </a:xfrm>
            <a:prstGeom prst="homePlate">
              <a:avLst/>
            </a:prstGeom>
            <a:solidFill>
              <a:schemeClr val="accent4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vert270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Aft>
                  <a:spcPts val="300"/>
                </a:spcAft>
              </a:pPr>
              <a:r>
                <a:rPr lang="en-AU" sz="1500" b="1" ker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Role</a:t>
              </a:r>
              <a:endParaRPr lang="en-US" sz="1500" b="1" kern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Pentagon 21">
              <a:extLst>
                <a:ext uri="{FF2B5EF4-FFF2-40B4-BE49-F238E27FC236}">
                  <a16:creationId xmlns:a16="http://schemas.microsoft.com/office/drawing/2014/main" id="{3BCA7D33-3B6F-4724-BE67-E5052D2696ED}"/>
                </a:ext>
              </a:extLst>
            </p:cNvPr>
            <p:cNvSpPr/>
            <p:nvPr/>
          </p:nvSpPr>
          <p:spPr bwMode="gray">
            <a:xfrm rot="5400000">
              <a:off x="2983264" y="832442"/>
              <a:ext cx="991882" cy="2025322"/>
            </a:xfrm>
            <a:prstGeom prst="homePlat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vert270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Aft>
                  <a:spcPts val="300"/>
                </a:spcAft>
              </a:pPr>
              <a:r>
                <a:rPr lang="en-AU" sz="1500" b="1" kern="0" dirty="0">
                  <a:latin typeface="Arial" pitchFamily="34" charset="0"/>
                  <a:cs typeface="Arial" pitchFamily="34" charset="0"/>
                </a:rPr>
                <a:t>Portfolio </a:t>
              </a:r>
              <a:endParaRPr lang="en-US" sz="1500" b="1" kern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Pentagon 22">
              <a:extLst>
                <a:ext uri="{FF2B5EF4-FFF2-40B4-BE49-F238E27FC236}">
                  <a16:creationId xmlns:a16="http://schemas.microsoft.com/office/drawing/2014/main" id="{D1E9122A-CD95-4F24-97DB-9AE6AC9DA223}"/>
                </a:ext>
              </a:extLst>
            </p:cNvPr>
            <p:cNvSpPr/>
            <p:nvPr/>
          </p:nvSpPr>
          <p:spPr bwMode="gray">
            <a:xfrm rot="5400000">
              <a:off x="5139764" y="723668"/>
              <a:ext cx="991879" cy="2187337"/>
            </a:xfrm>
            <a:prstGeom prst="homePlate">
              <a:avLst/>
            </a:prstGeom>
            <a:solidFill>
              <a:srgbClr val="00B050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vert270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</a:pPr>
              <a:r>
                <a:rPr lang="en-AU" sz="1500" b="1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Significant contributions</a:t>
              </a:r>
              <a:endPara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Pentagon 23">
              <a:extLst>
                <a:ext uri="{FF2B5EF4-FFF2-40B4-BE49-F238E27FC236}">
                  <a16:creationId xmlns:a16="http://schemas.microsoft.com/office/drawing/2014/main" id="{7A6440C2-E22E-4D7A-B15C-FE9EED1AA17B}"/>
                </a:ext>
              </a:extLst>
            </p:cNvPr>
            <p:cNvSpPr/>
            <p:nvPr/>
          </p:nvSpPr>
          <p:spPr bwMode="gray">
            <a:xfrm rot="5400000">
              <a:off x="7420605" y="724298"/>
              <a:ext cx="980119" cy="2241605"/>
            </a:xfrm>
            <a:prstGeom prst="homePlate">
              <a:avLst>
                <a:gd name="adj" fmla="val 44415"/>
              </a:avLst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vert270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</a:pPr>
              <a:r>
                <a:rPr lang="en-AU" sz="1500" b="1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Key Differentiator</a:t>
              </a:r>
              <a:endPara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20">
              <a:extLst>
                <a:ext uri="{FF2B5EF4-FFF2-40B4-BE49-F238E27FC236}">
                  <a16:creationId xmlns:a16="http://schemas.microsoft.com/office/drawing/2014/main" id="{5F69793A-A237-4D22-B360-3E36929181B6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487854" y="2603056"/>
              <a:ext cx="1965883" cy="454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en-US" sz="1600" b="1" dirty="0">
                  <a:latin typeface="Arial" pitchFamily="34" charset="0"/>
                  <a:cs typeface="Arial" pitchFamily="34" charset="0"/>
                </a:rPr>
                <a:t>HCSC Claims	</a:t>
              </a:r>
            </a:p>
          </p:txBody>
        </p:sp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D7CBC65F-DC9E-4666-B13C-6949551A185B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29344" y="2302157"/>
              <a:ext cx="2082813" cy="454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588" lvl="1" defTabSz="895350">
                <a:spcBef>
                  <a:spcPts val="300"/>
                </a:spcBef>
                <a:spcAft>
                  <a:spcPts val="300"/>
                </a:spcAft>
                <a:buSzPct val="120000"/>
              </a:pPr>
              <a:endParaRPr lang="en-US" sz="1600"/>
            </a:p>
          </p:txBody>
        </p:sp>
        <p:sp>
          <p:nvSpPr>
            <p:cNvPr id="14" name="Rectangle 20">
              <a:extLst>
                <a:ext uri="{FF2B5EF4-FFF2-40B4-BE49-F238E27FC236}">
                  <a16:creationId xmlns:a16="http://schemas.microsoft.com/office/drawing/2014/main" id="{0FEB1B70-CB49-49EF-B167-EC94A9724C72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845296" y="2322372"/>
              <a:ext cx="2214209" cy="3405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588" lvl="1" defTabSz="895350">
                <a:spcBef>
                  <a:spcPts val="300"/>
                </a:spcBef>
                <a:spcAft>
                  <a:spcPts val="300"/>
                </a:spcAft>
                <a:buSzPct val="120000"/>
              </a:pPr>
              <a:endParaRPr lang="en-AU" sz="120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5" name="Rectangle 1053">
            <a:extLst>
              <a:ext uri="{FF2B5EF4-FFF2-40B4-BE49-F238E27FC236}">
                <a16:creationId xmlns:a16="http://schemas.microsoft.com/office/drawing/2014/main" id="{623447D6-C37A-4107-9BC3-9139DF864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813" y="1796963"/>
            <a:ext cx="11430000" cy="1755741"/>
          </a:xfrm>
          <a:prstGeom prst="rect">
            <a:avLst/>
          </a:prstGeom>
          <a:solidFill>
            <a:srgbClr val="CCFFCC"/>
          </a:solidFill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135767" tIns="57475" rIns="57475" bIns="57475" anchor="t" anchorCtr="0"/>
          <a:lstStyle/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Ensured stable support for Claims applications through proactive monitoring and timely issue resolution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Actively involved in </a:t>
            </a:r>
            <a:r>
              <a:rPr 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technical bridges</a:t>
            </a: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, providing timely updates to clients during critical  issues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Performed </a:t>
            </a:r>
            <a:r>
              <a:rPr 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root cause analysis (RCA)</a:t>
            </a: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to restore services quickly and prevent recurring issues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Enhanced application reliability by implementing health check improvements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Took ownership of recurring failures and coordinated with product teams for permanent fixes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Resolved ~240 incidents</a:t>
            </a:r>
            <a:r>
              <a:rPr lang="en-US" sz="1800" dirty="0">
                <a:solidFill>
                  <a:schemeClr val="tx1"/>
                </a:solidFill>
              </a:rPr>
              <a:t> during the current fiscal year.</a:t>
            </a:r>
            <a:endParaRPr lang="en-US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endParaRPr lang="en-US" sz="1600" kern="0" dirty="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endParaRPr lang="en-US" sz="1600" kern="0" dirty="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endParaRPr lang="en-US" sz="1600" kern="0" dirty="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endParaRPr lang="en-US" sz="1600" kern="0" dirty="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endParaRPr lang="en-US" sz="1600" kern="0" dirty="0">
              <a:solidFill>
                <a:schemeClr val="tx1"/>
              </a:solidFill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endParaRPr lang="en-US" sz="1600" kern="0" dirty="0">
              <a:solidFill>
                <a:schemeClr val="tx1"/>
              </a:solidFill>
              <a:latin typeface="Arial"/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endParaRPr lang="en-US" sz="1600" kern="0" dirty="0">
              <a:solidFill>
                <a:schemeClr val="tx1"/>
              </a:solidFill>
              <a:latin typeface="Arial"/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anose="020B0604020202020204" pitchFamily="34" charset="0"/>
              <a:buChar char="•"/>
            </a:pPr>
            <a:endParaRPr lang="en-US" sz="1600" kern="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DA9BB6-C13F-4F73-9DE9-493B96290576}"/>
              </a:ext>
            </a:extLst>
          </p:cNvPr>
          <p:cNvSpPr txBox="1"/>
          <p:nvPr/>
        </p:nvSpPr>
        <p:spPr>
          <a:xfrm>
            <a:off x="-677916" y="2339751"/>
            <a:ext cx="2441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Arial Narrow" pitchFamily="34" charset="0"/>
                <a:cs typeface="Arial" pitchFamily="34" charset="0"/>
              </a:rPr>
              <a:t>Delivery</a:t>
            </a:r>
          </a:p>
        </p:txBody>
      </p:sp>
      <p:sp>
        <p:nvSpPr>
          <p:cNvPr id="17" name="Rectangle 1053">
            <a:extLst>
              <a:ext uri="{FF2B5EF4-FFF2-40B4-BE49-F238E27FC236}">
                <a16:creationId xmlns:a16="http://schemas.microsoft.com/office/drawing/2014/main" id="{1650E5A3-1EF4-43FA-BDF3-18ED5C62C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027" y="7347037"/>
            <a:ext cx="11477573" cy="1781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135767" tIns="57475" rIns="57475" bIns="57475" anchor="t" anchorCtr="0"/>
          <a:lstStyle/>
          <a:p>
            <a:pPr>
              <a:lnSpc>
                <a:spcPct val="80000"/>
              </a:lnSpc>
              <a:buSzPct val="90000"/>
            </a:pP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Prepared and presented </a:t>
            </a:r>
            <a:r>
              <a:rPr lang="en-US" sz="1800" b="1" dirty="0">
                <a:solidFill>
                  <a:schemeClr val="tx1"/>
                </a:solidFill>
              </a:rPr>
              <a:t>MSR (Monthly Service Report)</a:t>
            </a:r>
            <a:r>
              <a:rPr lang="en-US" sz="1800" dirty="0">
                <a:solidFill>
                  <a:schemeClr val="tx1"/>
                </a:solidFill>
              </a:rPr>
              <a:t> highlighting key metrics and performance insights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Delivered </a:t>
            </a:r>
            <a:r>
              <a:rPr lang="en-US" sz="1800" b="1" dirty="0">
                <a:solidFill>
                  <a:schemeClr val="tx1"/>
                </a:solidFill>
              </a:rPr>
              <a:t>Brown Bag session</a:t>
            </a:r>
            <a:r>
              <a:rPr lang="en-US" sz="1800" dirty="0">
                <a:solidFill>
                  <a:schemeClr val="tx1"/>
                </a:solidFill>
              </a:rPr>
              <a:t> on </a:t>
            </a:r>
            <a:r>
              <a:rPr lang="en-US" sz="1800" i="1" dirty="0">
                <a:solidFill>
                  <a:schemeClr val="tx1"/>
                </a:solidFill>
              </a:rPr>
              <a:t>Paperless Inventory application</a:t>
            </a:r>
            <a:r>
              <a:rPr lang="en-US" sz="1800" dirty="0">
                <a:solidFill>
                  <a:schemeClr val="tx1"/>
                </a:solidFill>
              </a:rPr>
              <a:t>, covering architecture and troubleshooting approach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Maintained </a:t>
            </a:r>
            <a:r>
              <a:rPr lang="en-US" sz="1800" b="1" dirty="0">
                <a:solidFill>
                  <a:schemeClr val="tx1"/>
                </a:solidFill>
              </a:rPr>
              <a:t>HPI tracker</a:t>
            </a:r>
            <a:r>
              <a:rPr lang="en-US" sz="1800" dirty="0">
                <a:solidFill>
                  <a:schemeClr val="tx1"/>
                </a:solidFill>
              </a:rPr>
              <a:t> to showcase volume and trends of monthly activities for Claims applications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Improved incident reduction through proactive monitoring, automation, and Dynatrace optimizations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Streamlined operational processes by reducing manual dependency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Focused on continuous improvement by identifying optimization opportunities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Ensured better SLA adherence and operational efficiency</a:t>
            </a:r>
            <a:endParaRPr lang="en-US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endParaRPr lang="en-US" sz="1600" kern="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endParaRPr lang="en-US" sz="1600" kern="0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2AC648-9596-4D02-AC5E-3FC5EEA1A828}"/>
              </a:ext>
            </a:extLst>
          </p:cNvPr>
          <p:cNvSpPr txBox="1"/>
          <p:nvPr/>
        </p:nvSpPr>
        <p:spPr>
          <a:xfrm>
            <a:off x="-595182" y="7617530"/>
            <a:ext cx="2382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2060"/>
                </a:solidFill>
                <a:latin typeface="Arial Narrow" pitchFamily="34" charset="0"/>
                <a:cs typeface="Arial" pitchFamily="34" charset="0"/>
              </a:defRPr>
            </a:lvl1pPr>
          </a:lstStyle>
          <a:p>
            <a:pPr algn="ctr"/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Operational Excellency</a:t>
            </a:r>
          </a:p>
        </p:txBody>
      </p:sp>
      <p:sp>
        <p:nvSpPr>
          <p:cNvPr id="19" name="Rectangle 1053">
            <a:extLst>
              <a:ext uri="{FF2B5EF4-FFF2-40B4-BE49-F238E27FC236}">
                <a16:creationId xmlns:a16="http://schemas.microsoft.com/office/drawing/2014/main" id="{40F0251F-FCD5-46E7-9CCF-E7FC781B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620292"/>
            <a:ext cx="11430000" cy="19725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135767" tIns="57475" rIns="57475" bIns="57475" anchor="t" anchorCtr="0"/>
          <a:lstStyle/>
          <a:p>
            <a:pPr>
              <a:lnSpc>
                <a:spcPct val="80000"/>
              </a:lnSpc>
              <a:buSzPct val="90000"/>
            </a:pPr>
            <a:endParaRPr lang="en-US" sz="1800" kern="0" dirty="0">
              <a:solidFill>
                <a:schemeClr val="accent1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Enhanced Selenium-based health check framework for Claims applications to improve monitoring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Developed </a:t>
            </a:r>
            <a:r>
              <a:rPr 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Power Automate workflows</a:t>
            </a: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for:</a:t>
            </a:r>
          </a:p>
          <a:p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       Alert reminders to ensure timely action </a:t>
            </a:r>
          </a:p>
          <a:p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       Notifications for onshore queue monitoring and reassignment to offshore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Reduced manual effort and improved response time through automation initiatives.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Identified automation use cases to prevent manual effort and improve operational productivity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endParaRPr lang="en-US" sz="1600" kern="0" dirty="0">
              <a:solidFill>
                <a:srgbClr val="C00000"/>
              </a:solidFill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endParaRPr lang="en-US" sz="1600" kern="0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E0CE2E-2CE4-4DC4-B2C0-6F3044ECAB61}"/>
              </a:ext>
            </a:extLst>
          </p:cNvPr>
          <p:cNvSpPr txBox="1"/>
          <p:nvPr/>
        </p:nvSpPr>
        <p:spPr>
          <a:xfrm>
            <a:off x="-533400" y="4083245"/>
            <a:ext cx="2392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2060"/>
                </a:solidFill>
                <a:latin typeface="Arial Narrow" pitchFamily="34" charset="0"/>
                <a:cs typeface="Arial" pitchFamily="34" charset="0"/>
              </a:defRPr>
            </a:lvl1pPr>
          </a:lstStyle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Innovation / Automation</a:t>
            </a:r>
          </a:p>
        </p:txBody>
      </p:sp>
      <p:sp>
        <p:nvSpPr>
          <p:cNvPr id="21" name="Rectangle 1053">
            <a:extLst>
              <a:ext uri="{FF2B5EF4-FFF2-40B4-BE49-F238E27FC236}">
                <a16:creationId xmlns:a16="http://schemas.microsoft.com/office/drawing/2014/main" id="{EF521B4F-642A-4884-94DB-1351CBECA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813" y="5660424"/>
            <a:ext cx="11477573" cy="1781910"/>
          </a:xfrm>
          <a:prstGeom prst="rect">
            <a:avLst/>
          </a:prstGeom>
          <a:solidFill>
            <a:srgbClr val="FFC000"/>
          </a:solidFill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135767" tIns="57475" rIns="57475" bIns="57475" anchor="t" anchorCtr="0"/>
          <a:lstStyle/>
          <a:p>
            <a:pPr>
              <a:lnSpc>
                <a:spcPct val="80000"/>
              </a:lnSpc>
              <a:buSzPct val="90000"/>
            </a:pPr>
            <a:endParaRPr lang="en-US" sz="1800" kern="0" dirty="0">
              <a:solidFill>
                <a:srgbClr val="002060"/>
              </a:solidFill>
              <a:latin typeface="Arial"/>
            </a:endParaRP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Implemented Dynatrace optimization scenarios across various applications (Enterprise Appeals application , IDR, Claims GUI, Blue Squared, COB) that contributed to reduction of ~</a:t>
            </a:r>
            <a:r>
              <a:rPr lang="en-US" sz="1800" b="1" dirty="0">
                <a:solidFill>
                  <a:schemeClr val="tx1"/>
                </a:solidFill>
              </a:rPr>
              <a:t>70 incidents </a:t>
            </a:r>
            <a:r>
              <a:rPr lang="en-US" sz="1800" dirty="0">
                <a:solidFill>
                  <a:schemeClr val="tx1"/>
                </a:solidFill>
              </a:rPr>
              <a:t>in the current fiscal year.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Identified recurring failures in </a:t>
            </a:r>
            <a:r>
              <a:rPr lang="en-US" sz="1800" b="1" dirty="0">
                <a:solidFill>
                  <a:schemeClr val="tx1"/>
                </a:solidFill>
              </a:rPr>
              <a:t>DCA ASSURE Control-M job</a:t>
            </a:r>
            <a:r>
              <a:rPr lang="en-US" sz="1800" dirty="0">
                <a:solidFill>
                  <a:schemeClr val="tx1"/>
                </a:solidFill>
              </a:rPr>
              <a:t> and performed detailed pattern analysis. Collaborated with product team to provide inputs for permanent fix.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Demonstrated proactive ownership and value addition beyond regular support</a:t>
            </a:r>
          </a:p>
          <a:p>
            <a:pPr marL="285750" indent="-285750">
              <a:lnSpc>
                <a:spcPct val="80000"/>
              </a:lnSpc>
              <a:buSzPct val="90000"/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Completed Gen AI and Agentic AI trainings, possess P3+ proficiency in AWS, Gen AI, and EMR to drive AI-enabled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solutions</a:t>
            </a:r>
            <a:endParaRPr lang="en-US" sz="1800" kern="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0EDE8D-CE7B-46CD-945E-B5CF6FE99BF1}"/>
              </a:ext>
            </a:extLst>
          </p:cNvPr>
          <p:cNvSpPr txBox="1"/>
          <p:nvPr/>
        </p:nvSpPr>
        <p:spPr>
          <a:xfrm>
            <a:off x="-697259" y="5958158"/>
            <a:ext cx="23929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2060"/>
                </a:solidFill>
                <a:latin typeface="Arial Narrow" pitchFamily="34" charset="0"/>
                <a:cs typeface="Arial" pitchFamily="34" charset="0"/>
              </a:defRPr>
            </a:lvl1pPr>
          </a:lstStyle>
          <a:p>
            <a:pPr algn="ctr"/>
            <a:r>
              <a:rPr lang="en-US" sz="2000" dirty="0">
                <a:solidFill>
                  <a:srgbClr val="FFC000"/>
                </a:solidFill>
              </a:rPr>
              <a:t>Account </a:t>
            </a:r>
          </a:p>
          <a:p>
            <a:pPr algn="ctr"/>
            <a:r>
              <a:rPr lang="en-US" sz="2000" dirty="0">
                <a:solidFill>
                  <a:srgbClr val="FFC000"/>
                </a:solidFill>
              </a:rPr>
              <a:t>Growth</a:t>
            </a:r>
          </a:p>
        </p:txBody>
      </p:sp>
    </p:spTree>
    <p:extLst>
      <p:ext uri="{BB962C8B-B14F-4D97-AF65-F5344CB8AC3E}">
        <p14:creationId xmlns:p14="http://schemas.microsoft.com/office/powerpoint/2010/main" val="5446332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80.125"/>
  <p:tag name="LTOP" val=" 214.125"/>
  <p:tag name="THINKCELLSHAPEDONOTDELETE" val="pFy3HE2WFK02c6vXLJi3nD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80.125"/>
  <p:tag name="LTOP" val=" 214.125"/>
  <p:tag name="THINKCELLSHAPEDONOTDELETE" val="pFy3HE2WFK02c6vXLJi3nD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80.125"/>
  <p:tag name="LTOP" val=" 214.125"/>
  <p:tag name="THINKCELLSHAPEDONOTDELETE" val="pFy3HE2WFK02c6vXLJi3nD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80.125"/>
  <p:tag name="LTOP" val=" 214.125"/>
  <p:tag name="THINKCELLSHAPEDONOTDELETE" val="pFy3HE2WFK02c6vXLJi3nD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QoQ0pBHk65Y8blJrmPV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QoQ0pBHk65Y8blJrmPV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QoQ0pBHk65Y8blJrmPV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QoQ0pBHk65Y8blJrmPV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367</Words>
  <Application>Microsoft Office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Times New Roman</vt:lpstr>
      <vt:lpstr>Office Theme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Nagaveer - FY13 at a Glance</dc:title>
  <dc:subject>Self Presentation</dc:subject>
  <dc:creator>Nagaveer</dc:creator>
  <cp:lastModifiedBy>Vardhan Vankayala, A.</cp:lastModifiedBy>
  <cp:revision>3</cp:revision>
  <dcterms:created xsi:type="dcterms:W3CDTF">2013-04-20T11:17:43Z</dcterms:created>
  <dcterms:modified xsi:type="dcterms:W3CDTF">2026-03-27T10:16:31Z</dcterms:modified>
</cp:coreProperties>
</file>